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44"/>
  </p:handoutMasterIdLst>
  <p:sldIdLst>
    <p:sldId id="256" r:id="rId4"/>
    <p:sldId id="262" r:id="rId5"/>
    <p:sldId id="261" r:id="rId6"/>
    <p:sldId id="383" r:id="rId7"/>
    <p:sldId id="378" r:id="rId8"/>
    <p:sldId id="388" r:id="rId9"/>
    <p:sldId id="379" r:id="rId10"/>
    <p:sldId id="389" r:id="rId11"/>
    <p:sldId id="390" r:id="rId12"/>
    <p:sldId id="395" r:id="rId13"/>
    <p:sldId id="396" r:id="rId14"/>
    <p:sldId id="391" r:id="rId15"/>
    <p:sldId id="421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22" r:id="rId26"/>
    <p:sldId id="407" r:id="rId27"/>
    <p:sldId id="392" r:id="rId28"/>
    <p:sldId id="408" r:id="rId29"/>
    <p:sldId id="423" r:id="rId30"/>
    <p:sldId id="409" r:id="rId31"/>
    <p:sldId id="393" r:id="rId32"/>
    <p:sldId id="394" r:id="rId33"/>
    <p:sldId id="410" r:id="rId34"/>
    <p:sldId id="411" r:id="rId35"/>
    <p:sldId id="412" r:id="rId36"/>
    <p:sldId id="380" r:id="rId37"/>
    <p:sldId id="414" r:id="rId38"/>
    <p:sldId id="415" r:id="rId39"/>
    <p:sldId id="416" r:id="rId40"/>
    <p:sldId id="382" r:id="rId41"/>
    <p:sldId id="419" r:id="rId42"/>
    <p:sldId id="420" r:id="rId4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32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BA2DB9-6ADC-4325-BE06-69A5B8458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43575"/>
            <a:ext cx="40957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3" y="3335252"/>
            <a:ext cx="1802732" cy="2929439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DF13A63-046D-431B-80C4-54AE9171A8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0" y="0"/>
            <a:ext cx="40957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1BFF4A-B552-4A89-9878-012837AE32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0" y="0"/>
            <a:ext cx="40957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7269BD4-A25C-4BF6-8882-1A1B6191FD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43575"/>
            <a:ext cx="40957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3" y="3335252"/>
            <a:ext cx="1802732" cy="292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9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34989CB-AD73-4A8E-BDAE-6F3690F574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0" y="0"/>
            <a:ext cx="40957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707" r:id="rId9"/>
    <p:sldLayoutId id="2147483708" r:id="rId10"/>
    <p:sldLayoutId id="2147483656" r:id="rId11"/>
    <p:sldLayoutId id="2147483687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4968B3-24F3-4BB4-9F9F-F4E47B4E10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0" y="0"/>
            <a:ext cx="40957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9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Kriesnawan</a:t>
            </a:r>
            <a:r>
              <a:rPr lang="en-US" altLang="ko-KR" sz="2400" dirty="0">
                <a:latin typeface="Aharoni" panose="02010803020104030203" pitchFamily="2" charset="-79"/>
                <a:cs typeface="Aharoni" panose="02010803020104030203" pitchFamily="2" charset="-79"/>
              </a:rPr>
              <a:t> Handy </a:t>
            </a:r>
            <a:r>
              <a:rPr lang="en-US" altLang="ko-KR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Sugianto</a:t>
            </a:r>
            <a:endParaRPr lang="en-US" altLang="ko-KR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240" y="2496291"/>
            <a:ext cx="7164213" cy="1243095"/>
          </a:xfrm>
        </p:spPr>
        <p:txBody>
          <a:bodyPr/>
          <a:lstStyle/>
          <a:p>
            <a:r>
              <a:rPr lang="en-US" sz="5400" dirty="0"/>
              <a:t>FINAL PROJECT</a:t>
            </a:r>
            <a:br>
              <a:rPr lang="en-US" dirty="0"/>
            </a:br>
            <a:r>
              <a:rPr lang="en-US" i="1" dirty="0"/>
              <a:t>Data Science with Python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8614FAA-1AE4-466D-8B26-A48EDF1B708F}"/>
              </a:ext>
            </a:extLst>
          </p:cNvPr>
          <p:cNvSpPr txBox="1">
            <a:spLocks/>
          </p:cNvSpPr>
          <p:nvPr/>
        </p:nvSpPr>
        <p:spPr>
          <a:xfrm>
            <a:off x="6752497" y="6330956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altLang="ko-KR" sz="2400" b="1" dirty="0">
                <a:solidFill>
                  <a:srgbClr val="00B050"/>
                </a:solidFill>
                <a:latin typeface="+mj-ea"/>
                <a:cs typeface="Aharoni" panose="02010803020104030203" pitchFamily="2" charset="-79"/>
              </a:rPr>
              <a:t>August 8, 2021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Daftar Isi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68164" y="548875"/>
            <a:ext cx="6186490" cy="780795"/>
            <a:chOff x="4745820" y="1491808"/>
            <a:chExt cx="6186490" cy="780795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727835"/>
              <a:ext cx="5092036" cy="369814"/>
              <a:chOff x="6365620" y="1657665"/>
              <a:chExt cx="5092036" cy="369814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657665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 err="1">
                    <a:cs typeface="Arial" pitchFamily="34" charset="0"/>
                  </a:rPr>
                  <a:t>Latar</a:t>
                </a:r>
                <a:r>
                  <a:rPr lang="en-US" altLang="ko-KR" b="1" dirty="0"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cs typeface="Arial" pitchFamily="34" charset="0"/>
                  </a:rPr>
                  <a:t>Belakang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96148"/>
            <a:ext cx="6174454" cy="780795"/>
            <a:chOff x="4745820" y="1491808"/>
            <a:chExt cx="6174454" cy="780795"/>
          </a:xfrm>
        </p:grpSpPr>
        <p:sp>
          <p:nvSpPr>
            <p:cNvPr id="20" name="TextBox 19"/>
            <p:cNvSpPr txBox="1"/>
            <p:nvPr/>
          </p:nvSpPr>
          <p:spPr>
            <a:xfrm>
              <a:off x="5828238" y="1697539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 err="1">
                  <a:cs typeface="Arial" pitchFamily="34" charset="0"/>
                </a:rPr>
                <a:t>Tujuan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43421"/>
            <a:ext cx="6194514" cy="780795"/>
            <a:chOff x="4745820" y="1491808"/>
            <a:chExt cx="6194514" cy="780795"/>
          </a:xfrm>
        </p:grpSpPr>
        <p:sp>
          <p:nvSpPr>
            <p:cNvPr id="27" name="TextBox 26"/>
            <p:cNvSpPr txBox="1"/>
            <p:nvPr/>
          </p:nvSpPr>
          <p:spPr>
            <a:xfrm>
              <a:off x="5848298" y="1736401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cs typeface="Arial" pitchFamily="34" charset="0"/>
                </a:rPr>
                <a:t>Proses </a:t>
              </a:r>
              <a:r>
                <a:rPr lang="en-US" altLang="ko-KR" b="1" dirty="0" err="1">
                  <a:cs typeface="Arial" pitchFamily="34" charset="0"/>
                </a:rPr>
                <a:t>Analisis</a:t>
              </a:r>
              <a:r>
                <a:rPr lang="en-US" altLang="ko-KR" b="1" dirty="0">
                  <a:cs typeface="Arial" pitchFamily="34" charset="0"/>
                </a:rPr>
                <a:t> Data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90694"/>
            <a:ext cx="6182478" cy="780795"/>
            <a:chOff x="4745820" y="1491808"/>
            <a:chExt cx="6182478" cy="780795"/>
          </a:xfrm>
        </p:grpSpPr>
        <p:sp>
          <p:nvSpPr>
            <p:cNvPr id="34" name="TextBox 33"/>
            <p:cNvSpPr txBox="1"/>
            <p:nvPr/>
          </p:nvSpPr>
          <p:spPr>
            <a:xfrm>
              <a:off x="5836262" y="1668015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 err="1">
                  <a:cs typeface="Arial" pitchFamily="34" charset="0"/>
                </a:rPr>
                <a:t>Analisis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37967"/>
            <a:ext cx="6202538" cy="780795"/>
            <a:chOff x="4745820" y="1491808"/>
            <a:chExt cx="6202538" cy="780795"/>
          </a:xfrm>
        </p:grpSpPr>
        <p:sp>
          <p:nvSpPr>
            <p:cNvPr id="41" name="TextBox 40"/>
            <p:cNvSpPr txBox="1"/>
            <p:nvPr/>
          </p:nvSpPr>
          <p:spPr>
            <a:xfrm>
              <a:off x="5856322" y="1697539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cs typeface="Arial" pitchFamily="34" charset="0"/>
                </a:rPr>
                <a:t>Kesimpulan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A2B5A-BCEF-428D-A1EC-0CDA6D3FFA64}"/>
              </a:ext>
            </a:extLst>
          </p:cNvPr>
          <p:cNvSpPr txBox="1"/>
          <p:nvPr/>
        </p:nvSpPr>
        <p:spPr>
          <a:xfrm>
            <a:off x="2643808" y="2117035"/>
            <a:ext cx="8716617" cy="224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HELP International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telah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berhasil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mengumpulkan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sekitar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$ 10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juta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.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Saat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ini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, CEO LSM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perlu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memutuskan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bagaimana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menggunakan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uang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ini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secara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strategis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dan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efektif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. Jadi, CEO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harus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mengambil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keputusan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untuk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memilih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negara yang paling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membutuhkan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bantuan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. </a:t>
            </a:r>
            <a:endParaRPr lang="en-US" sz="24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8770D47-C4E4-41DE-AC28-1A19F3845125}"/>
              </a:ext>
            </a:extLst>
          </p:cNvPr>
          <p:cNvSpPr txBox="1">
            <a:spLocks/>
          </p:cNvSpPr>
          <p:nvPr/>
        </p:nvSpPr>
        <p:spPr>
          <a:xfrm>
            <a:off x="1016058" y="794679"/>
            <a:ext cx="6444916" cy="677416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err="1">
                <a:solidFill>
                  <a:schemeClr val="accent1"/>
                </a:solidFill>
              </a:rPr>
              <a:t>Latar</a:t>
            </a:r>
            <a:r>
              <a:rPr lang="en-US" sz="4000" b="1" dirty="0">
                <a:solidFill>
                  <a:schemeClr val="accent1"/>
                </a:solidFill>
              </a:rPr>
              <a:t> </a:t>
            </a:r>
            <a:r>
              <a:rPr lang="en-US" sz="4000" b="1" dirty="0" err="1">
                <a:solidFill>
                  <a:schemeClr val="accent1"/>
                </a:solidFill>
              </a:rPr>
              <a:t>Belakang</a:t>
            </a:r>
            <a:endParaRPr lang="en-US" sz="4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7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769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A2B5A-BCEF-428D-A1EC-0CDA6D3FFA64}"/>
              </a:ext>
            </a:extLst>
          </p:cNvPr>
          <p:cNvSpPr txBox="1"/>
          <p:nvPr/>
        </p:nvSpPr>
        <p:spPr>
          <a:xfrm>
            <a:off x="2643808" y="2117035"/>
            <a:ext cx="8716617" cy="2802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Menentukan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negara yang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pantas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untuk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menerima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bantuan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dari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CEO LSM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13131"/>
                </a:solidFill>
                <a:latin typeface="Rubik"/>
              </a:rPr>
              <a:t>M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engkategorikan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negara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menggunakan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faktor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sosial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ekonomi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dan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kesehatan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yang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menentukan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pembangunan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negara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secara</a:t>
            </a:r>
            <a:r>
              <a:rPr lang="en-US" sz="2400" b="0" i="0" dirty="0">
                <a:solidFill>
                  <a:srgbClr val="313131"/>
                </a:solidFill>
                <a:effectLst/>
                <a:latin typeface="Rubik"/>
              </a:rPr>
              <a:t> </a:t>
            </a:r>
            <a:r>
              <a:rPr lang="en-US" sz="2400" b="0" i="0" dirty="0" err="1">
                <a:solidFill>
                  <a:srgbClr val="313131"/>
                </a:solidFill>
                <a:effectLst/>
                <a:latin typeface="Rubik"/>
              </a:rPr>
              <a:t>keseluruhan</a:t>
            </a:r>
            <a:endParaRPr lang="en-US" sz="24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8770D47-C4E4-41DE-AC28-1A19F3845125}"/>
              </a:ext>
            </a:extLst>
          </p:cNvPr>
          <p:cNvSpPr txBox="1">
            <a:spLocks/>
          </p:cNvSpPr>
          <p:nvPr/>
        </p:nvSpPr>
        <p:spPr>
          <a:xfrm>
            <a:off x="1016058" y="794679"/>
            <a:ext cx="6444916" cy="677416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 err="1">
                <a:solidFill>
                  <a:schemeClr val="accent1"/>
                </a:solidFill>
              </a:rPr>
              <a:t>Tujuan</a:t>
            </a:r>
            <a:endParaRPr lang="en-US" sz="4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08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Analisis</a:t>
            </a:r>
            <a:r>
              <a:rPr lang="en-US" dirty="0"/>
              <a:t> Data</a:t>
            </a:r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822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6918"/>
            <a:ext cx="3188367" cy="2308324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Proses </a:t>
            </a:r>
            <a:r>
              <a:rPr lang="en-US" altLang="ko-KR" sz="4800" dirty="0" err="1">
                <a:solidFill>
                  <a:schemeClr val="bg1"/>
                </a:solidFill>
                <a:cs typeface="Arial" pitchFamily="34" charset="0"/>
              </a:rPr>
              <a:t>Analisis</a:t>
            </a:r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 Data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68164" y="548875"/>
            <a:ext cx="6186490" cy="780795"/>
            <a:chOff x="4745820" y="1491808"/>
            <a:chExt cx="6186490" cy="780795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727835"/>
              <a:ext cx="5092036" cy="369814"/>
              <a:chOff x="6365620" y="1657665"/>
              <a:chExt cx="5092036" cy="369814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657665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Reading and Understanding Data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96148"/>
            <a:ext cx="6174454" cy="780795"/>
            <a:chOff x="4745820" y="1491808"/>
            <a:chExt cx="6174454" cy="780795"/>
          </a:xfrm>
        </p:grpSpPr>
        <p:sp>
          <p:nvSpPr>
            <p:cNvPr id="20" name="TextBox 19"/>
            <p:cNvSpPr txBox="1"/>
            <p:nvPr/>
          </p:nvSpPr>
          <p:spPr>
            <a:xfrm>
              <a:off x="5828238" y="1697539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cs typeface="Arial" pitchFamily="34" charset="0"/>
                </a:rPr>
                <a:t>Exploratory Data Analysis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43421"/>
            <a:ext cx="6194514" cy="780795"/>
            <a:chOff x="4745820" y="1491808"/>
            <a:chExt cx="6194514" cy="780795"/>
          </a:xfrm>
        </p:grpSpPr>
        <p:sp>
          <p:nvSpPr>
            <p:cNvPr id="27" name="TextBox 26"/>
            <p:cNvSpPr txBox="1"/>
            <p:nvPr/>
          </p:nvSpPr>
          <p:spPr>
            <a:xfrm>
              <a:off x="5848298" y="1736401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cs typeface="Arial" pitchFamily="34" charset="0"/>
                </a:rPr>
                <a:t>Outliers Treatment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90694"/>
            <a:ext cx="6182478" cy="780795"/>
            <a:chOff x="4745820" y="1491808"/>
            <a:chExt cx="6182478" cy="780795"/>
          </a:xfrm>
        </p:grpSpPr>
        <p:sp>
          <p:nvSpPr>
            <p:cNvPr id="34" name="TextBox 33"/>
            <p:cNvSpPr txBox="1"/>
            <p:nvPr/>
          </p:nvSpPr>
          <p:spPr>
            <a:xfrm>
              <a:off x="5836262" y="1668015"/>
              <a:ext cx="5092036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cs typeface="Arial" pitchFamily="34" charset="0"/>
                </a:rPr>
                <a:t>Scaling Data</a:t>
              </a:r>
              <a:endParaRPr lang="ko-KR" altLang="en-US" b="1" dirty="0">
                <a:cs typeface="Arial" pitchFamily="34" charset="0"/>
              </a:endParaRP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37967"/>
            <a:ext cx="6202538" cy="852062"/>
            <a:chOff x="4745820" y="1491808"/>
            <a:chExt cx="6202538" cy="852062"/>
          </a:xfrm>
        </p:grpSpPr>
        <p:sp>
          <p:nvSpPr>
            <p:cNvPr id="41" name="TextBox 40"/>
            <p:cNvSpPr txBox="1"/>
            <p:nvPr/>
          </p:nvSpPr>
          <p:spPr>
            <a:xfrm>
              <a:off x="5856322" y="1697539"/>
              <a:ext cx="509203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l"/>
              <a:r>
                <a:rPr lang="en-US" b="1" i="0" dirty="0">
                  <a:solidFill>
                    <a:srgbClr val="212121"/>
                  </a:solidFill>
                  <a:effectLst/>
                  <a:latin typeface="+mj-lt"/>
                </a:rPr>
                <a:t>Creating k means clustering and visualizing clusters formed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184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Reading and Understanding Data</a:t>
            </a:r>
          </a:p>
        </p:txBody>
      </p:sp>
      <p:pic>
        <p:nvPicPr>
          <p:cNvPr id="4" name="Picture 3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69362B2F-11F8-4464-88BC-D0D0AC76C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326" y="1123122"/>
            <a:ext cx="9241348" cy="35816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0FC5E6-EFB0-4618-8EF9-D8CDC10F74F3}"/>
              </a:ext>
            </a:extLst>
          </p:cNvPr>
          <p:cNvSpPr txBox="1"/>
          <p:nvPr/>
        </p:nvSpPr>
        <p:spPr>
          <a:xfrm>
            <a:off x="780728" y="4996214"/>
            <a:ext cx="10211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Pada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python </a:t>
            </a:r>
            <a:r>
              <a:rPr lang="en-US" dirty="0" err="1"/>
              <a:t>membaca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CSB file </a:t>
            </a:r>
            <a:r>
              <a:rPr lang="en-US" dirty="0" err="1"/>
              <a:t>dengan</a:t>
            </a:r>
            <a:r>
              <a:rPr lang="en-US" dirty="0"/>
              <a:t> library ‘Pandas’ </a:t>
            </a:r>
            <a:r>
              <a:rPr lang="en-US" dirty="0" err="1"/>
              <a:t>sehingga</a:t>
            </a:r>
            <a:r>
              <a:rPr lang="en-US" dirty="0"/>
              <a:t> data frame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di python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data.shape</a:t>
            </a:r>
            <a:r>
              <a:rPr lang="en-US" dirty="0"/>
              <a:t>, </a:t>
            </a:r>
            <a:r>
              <a:rPr lang="en-US" dirty="0" err="1"/>
              <a:t>didapat</a:t>
            </a:r>
            <a:r>
              <a:rPr lang="en-US" dirty="0"/>
              <a:t> 167 rows x 10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Negara, </a:t>
            </a:r>
            <a:r>
              <a:rPr lang="en-US" dirty="0" err="1"/>
              <a:t>Kematian_anak</a:t>
            </a:r>
            <a:r>
              <a:rPr lang="en-US" dirty="0"/>
              <a:t>, </a:t>
            </a:r>
            <a:r>
              <a:rPr lang="en-US" dirty="0" err="1"/>
              <a:t>Ekspor</a:t>
            </a:r>
            <a:r>
              <a:rPr lang="en-US" dirty="0"/>
              <a:t>, Kesehatan, </a:t>
            </a:r>
            <a:r>
              <a:rPr lang="en-US" dirty="0" err="1"/>
              <a:t>Impor</a:t>
            </a:r>
            <a:r>
              <a:rPr lang="en-US" dirty="0"/>
              <a:t>, </a:t>
            </a:r>
            <a:r>
              <a:rPr lang="en-US" dirty="0" err="1"/>
              <a:t>Pendapatan</a:t>
            </a:r>
            <a:r>
              <a:rPr lang="en-US" dirty="0"/>
              <a:t>, </a:t>
            </a:r>
            <a:r>
              <a:rPr lang="en-US" dirty="0" err="1"/>
              <a:t>Inflasi</a:t>
            </a:r>
            <a:r>
              <a:rPr lang="en-US" dirty="0"/>
              <a:t>, </a:t>
            </a:r>
            <a:r>
              <a:rPr lang="en-US" dirty="0" err="1"/>
              <a:t>Harapan_hidup</a:t>
            </a:r>
            <a:r>
              <a:rPr lang="en-US" dirty="0"/>
              <a:t>, </a:t>
            </a:r>
            <a:r>
              <a:rPr lang="en-US" dirty="0" err="1"/>
              <a:t>Jumlah_fertility</a:t>
            </a:r>
            <a:r>
              <a:rPr lang="en-US" dirty="0"/>
              <a:t>, </a:t>
            </a:r>
            <a:r>
              <a:rPr lang="en-US" dirty="0" err="1"/>
              <a:t>GDPperkapita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74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Reading and Understanding Data</a:t>
            </a:r>
          </a:p>
        </p:txBody>
      </p:sp>
      <p:pic>
        <p:nvPicPr>
          <p:cNvPr id="5" name="Picture 4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6273939A-915F-4862-8534-88DCAE870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09" y="1918253"/>
            <a:ext cx="4260509" cy="3248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9B1054-9F53-4094-97D6-5A22E60999A5}"/>
              </a:ext>
            </a:extLst>
          </p:cNvPr>
          <p:cNvSpPr txBox="1"/>
          <p:nvPr/>
        </p:nvSpPr>
        <p:spPr>
          <a:xfrm>
            <a:off x="6017796" y="2226365"/>
            <a:ext cx="4482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Data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diimport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CSV file, </a:t>
            </a:r>
            <a:r>
              <a:rPr lang="en-US" dirty="0" err="1"/>
              <a:t>diketahui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object, float dan integer.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data </a:t>
            </a:r>
            <a:r>
              <a:rPr lang="en-US" dirty="0" err="1"/>
              <a:t>kosong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data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 </a:t>
            </a:r>
            <a:r>
              <a:rPr lang="en-US" dirty="0" err="1"/>
              <a:t>ketahap</a:t>
            </a:r>
            <a:r>
              <a:rPr lang="en-US" dirty="0"/>
              <a:t> </a:t>
            </a:r>
            <a:r>
              <a:rPr lang="en-US" dirty="0" err="1"/>
              <a:t>selanjutnya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4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Reading and Understanding Data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5A0F64F-ADC6-47BC-A776-1F135D018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987" y="1604702"/>
            <a:ext cx="9256026" cy="26293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C21CA-D167-4C3F-A34E-7BC7BFB26323}"/>
              </a:ext>
            </a:extLst>
          </p:cNvPr>
          <p:cNvSpPr txBox="1"/>
          <p:nvPr/>
        </p:nvSpPr>
        <p:spPr>
          <a:xfrm>
            <a:off x="1610139" y="4403035"/>
            <a:ext cx="8756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describe(), </a:t>
            </a:r>
            <a:r>
              <a:rPr lang="en-US" dirty="0" err="1"/>
              <a:t>diketahui</a:t>
            </a:r>
            <a:r>
              <a:rPr lang="en-US" dirty="0"/>
              <a:t> data yang </a:t>
            </a:r>
            <a:r>
              <a:rPr lang="en-US" dirty="0" err="1"/>
              <a:t>dimiliki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info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. Dari data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deviasi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dimiliki</a:t>
            </a:r>
            <a:r>
              <a:rPr lang="en-US" dirty="0"/>
              <a:t> oleh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dan </a:t>
            </a:r>
            <a:r>
              <a:rPr lang="en-US" dirty="0" err="1"/>
              <a:t>GDPperkapita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72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A picture containing window, building&#10;&#10;Description automatically generated">
            <a:extLst>
              <a:ext uri="{FF2B5EF4-FFF2-40B4-BE49-F238E27FC236}">
                <a16:creationId xmlns:a16="http://schemas.microsoft.com/office/drawing/2014/main" id="{1E886C74-E276-4519-9A0A-48926267F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589" y="1016173"/>
            <a:ext cx="8768821" cy="5435053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FE3F95-749D-4F9D-A6B1-C32EE0268451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Univariate</a:t>
            </a:r>
          </a:p>
        </p:txBody>
      </p:sp>
    </p:spTree>
    <p:extLst>
      <p:ext uri="{BB962C8B-B14F-4D97-AF65-F5344CB8AC3E}">
        <p14:creationId xmlns:p14="http://schemas.microsoft.com/office/powerpoint/2010/main" val="60511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0D1353D-1842-4575-8672-83288D947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724247"/>
          </a:xfrm>
        </p:spPr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66109ECB-E986-4B9F-997D-DDDC8370D640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Univariate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AF23F-023B-4404-8AEC-B4217CCC91B1}"/>
              </a:ext>
            </a:extLst>
          </p:cNvPr>
          <p:cNvSpPr txBox="1"/>
          <p:nvPr/>
        </p:nvSpPr>
        <p:spPr>
          <a:xfrm>
            <a:off x="2613992" y="2872408"/>
            <a:ext cx="7752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,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persebaran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masing-masing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normal.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tengan</a:t>
            </a:r>
            <a:r>
              <a:rPr lang="en-US" dirty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305777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A close-up of a window&#10;&#10;Description automatically generated with low confidence">
            <a:extLst>
              <a:ext uri="{FF2B5EF4-FFF2-40B4-BE49-F238E27FC236}">
                <a16:creationId xmlns:a16="http://schemas.microsoft.com/office/drawing/2014/main" id="{E3F51093-D82B-46A0-A043-FF735919E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684" y="1016173"/>
            <a:ext cx="8564883" cy="5391467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4422C60-079D-46B6-B640-83610A0CC5BF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03188E89-8C98-490A-BA6C-356CE8A5244D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Kematian</a:t>
            </a:r>
            <a:r>
              <a:rPr lang="en-US" sz="4000" dirty="0">
                <a:solidFill>
                  <a:schemeClr val="accent1"/>
                </a:solidFill>
              </a:rPr>
              <a:t> Anak</a:t>
            </a:r>
          </a:p>
        </p:txBody>
      </p:sp>
    </p:spTree>
    <p:extLst>
      <p:ext uri="{BB962C8B-B14F-4D97-AF65-F5344CB8AC3E}">
        <p14:creationId xmlns:p14="http://schemas.microsoft.com/office/powerpoint/2010/main" val="25429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E5399AFA-6E9D-4BC2-86A9-7021E3438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31" y="945834"/>
            <a:ext cx="8939389" cy="562024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A04A65B-2B30-4963-BB8D-F8FC0D5112C1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4DE0B28E-7047-48F8-B9E9-F1432701B1CE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Ekspor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597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A close-up of a window&#10;&#10;Description automatically generated with medium confidence">
            <a:extLst>
              <a:ext uri="{FF2B5EF4-FFF2-40B4-BE49-F238E27FC236}">
                <a16:creationId xmlns:a16="http://schemas.microsoft.com/office/drawing/2014/main" id="{D95D1876-C9E0-4F5A-A9F7-A6D72A958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49" y="1016173"/>
            <a:ext cx="8938370" cy="56196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F5BBCF3-9D51-4808-A8E0-177F832406B9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BC2C364F-F11C-4481-AA18-3F895FD169A7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Kesehatan</a:t>
            </a:r>
          </a:p>
        </p:txBody>
      </p:sp>
    </p:spTree>
    <p:extLst>
      <p:ext uri="{BB962C8B-B14F-4D97-AF65-F5344CB8AC3E}">
        <p14:creationId xmlns:p14="http://schemas.microsoft.com/office/powerpoint/2010/main" val="3577657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A picture containing text, electronics, display&#10;&#10;Description automatically generated">
            <a:extLst>
              <a:ext uri="{FF2B5EF4-FFF2-40B4-BE49-F238E27FC236}">
                <a16:creationId xmlns:a16="http://schemas.microsoft.com/office/drawing/2014/main" id="{24879C28-122B-4DB5-9613-D186E03A8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02" y="1016173"/>
            <a:ext cx="8929448" cy="5613991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E3364A8-08BC-486F-ADBA-24E875824697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805D87-4D46-4A3B-BCAA-5F66C030071E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Impor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011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A close-up of a window&#10;&#10;Description automatically generated with medium confidence">
            <a:extLst>
              <a:ext uri="{FF2B5EF4-FFF2-40B4-BE49-F238E27FC236}">
                <a16:creationId xmlns:a16="http://schemas.microsoft.com/office/drawing/2014/main" id="{BCD664C9-724B-4640-8B3D-51075266B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01" y="1016173"/>
            <a:ext cx="8929450" cy="5613992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AD996E1-8460-4630-93B2-2355A8E56BB3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707FC39-7683-40E0-A198-04D55E36B732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Pendapatan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813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A picture containing text, electronics, display&#10;&#10;Description automatically generated">
            <a:extLst>
              <a:ext uri="{FF2B5EF4-FFF2-40B4-BE49-F238E27FC236}">
                <a16:creationId xmlns:a16="http://schemas.microsoft.com/office/drawing/2014/main" id="{30F34253-009A-464F-B7BB-E0512C03E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823" y="910709"/>
            <a:ext cx="8995257" cy="5655365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1C45ABD-3DD9-4116-AE81-394C889B2478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961C567-96E5-41D7-8CC8-ED1D8BCBBE22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Inflasi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27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7210F837-2A61-40B9-8384-DC78AC2D3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520" y="1016173"/>
            <a:ext cx="8620959" cy="5426765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C1E7985-CA89-41A9-976C-DA3AABA08537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F2149AF1-9A0C-4A7B-9838-D0B7EA8C7A6D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Harapan </a:t>
            </a:r>
            <a:r>
              <a:rPr lang="en-US" sz="4000" dirty="0" err="1">
                <a:solidFill>
                  <a:schemeClr val="accent1"/>
                </a:solidFill>
              </a:rPr>
              <a:t>Hidup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137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2102D314-22EE-44E8-BAAA-995F8A1F8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167" y="1016173"/>
            <a:ext cx="8763666" cy="5516597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7BD138E-BD28-4130-A1C7-87C400CDF50F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93D9238-A7E4-4810-8E04-E5E3BD0CDD78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Jumlah</a:t>
            </a:r>
            <a:r>
              <a:rPr lang="en-US" sz="4000" dirty="0">
                <a:solidFill>
                  <a:schemeClr val="accent1"/>
                </a:solidFill>
              </a:rPr>
              <a:t> </a:t>
            </a:r>
            <a:r>
              <a:rPr lang="en-US" sz="4000" dirty="0" err="1">
                <a:solidFill>
                  <a:schemeClr val="accent1"/>
                </a:solidFill>
              </a:rPr>
              <a:t>Fertiliti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19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4376F82B-C2DF-48DE-917E-F137A769B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001" y="1008322"/>
            <a:ext cx="8839997" cy="5557752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0091C4C-2779-4A55-909B-2F9610F4FE2C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2C182-E230-4D62-AED4-60CACCC5F4D7}"/>
              </a:ext>
            </a:extLst>
          </p:cNvPr>
          <p:cNvSpPr/>
          <p:nvPr/>
        </p:nvSpPr>
        <p:spPr>
          <a:xfrm>
            <a:off x="4522304" y="2882347"/>
            <a:ext cx="3120887" cy="18387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D1E6034-4FBA-4210-B476-5991354819C9}"/>
              </a:ext>
            </a:extLst>
          </p:cNvPr>
          <p:cNvSpPr txBox="1">
            <a:spLocks/>
          </p:cNvSpPr>
          <p:nvPr/>
        </p:nvSpPr>
        <p:spPr>
          <a:xfrm rot="16200000">
            <a:off x="-917587" y="3297180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GDPperkapita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120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0091C4C-2779-4A55-909B-2F9610F4FE2C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Bivariate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8F9ED-DE18-4CED-BD1A-13213FD29E7A}"/>
              </a:ext>
            </a:extLst>
          </p:cNvPr>
          <p:cNvSpPr txBox="1"/>
          <p:nvPr/>
        </p:nvSpPr>
        <p:spPr>
          <a:xfrm>
            <a:off x="6884274" y="2328842"/>
            <a:ext cx="4477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Dari </a:t>
            </a:r>
            <a:r>
              <a:rPr lang="en-US" dirty="0" err="1"/>
              <a:t>analisis</a:t>
            </a:r>
            <a:r>
              <a:rPr lang="en-US" dirty="0"/>
              <a:t> bivariate,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. Lalu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dan </a:t>
            </a:r>
            <a:r>
              <a:rPr lang="en-US" dirty="0" err="1"/>
              <a:t>GDPperkapita</a:t>
            </a:r>
            <a:r>
              <a:rPr lang="en-US" dirty="0"/>
              <a:t> yang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menyerupai</a:t>
            </a:r>
            <a:r>
              <a:rPr lang="en-US" dirty="0"/>
              <a:t> garis linear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lain.</a:t>
            </a:r>
          </a:p>
        </p:txBody>
      </p:sp>
      <p:pic>
        <p:nvPicPr>
          <p:cNvPr id="8" name="Picture 7" descr="Calendar&#10;&#10;Description automatically generated">
            <a:extLst>
              <a:ext uri="{FF2B5EF4-FFF2-40B4-BE49-F238E27FC236}">
                <a16:creationId xmlns:a16="http://schemas.microsoft.com/office/drawing/2014/main" id="{5CF7E213-E31C-4623-BE0C-6C59CD1001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0" t="32498" r="31646" b="33333"/>
          <a:stretch/>
        </p:blipFill>
        <p:spPr>
          <a:xfrm>
            <a:off x="1119835" y="1968574"/>
            <a:ext cx="5557149" cy="338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5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Exploratory Data Analysis</a:t>
            </a:r>
          </a:p>
        </p:txBody>
      </p:sp>
      <p:pic>
        <p:nvPicPr>
          <p:cNvPr id="5" name="Picture 4" descr="Table&#10;&#10;Description automatically generated with medium confidence">
            <a:extLst>
              <a:ext uri="{FF2B5EF4-FFF2-40B4-BE49-F238E27FC236}">
                <a16:creationId xmlns:a16="http://schemas.microsoft.com/office/drawing/2014/main" id="{35F71056-F911-4E68-A2CE-01AB52C1B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89" y="1103881"/>
            <a:ext cx="7710754" cy="537274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BCBD3D6-4276-4FD0-BFAD-7F90E9282CEB}"/>
              </a:ext>
            </a:extLst>
          </p:cNvPr>
          <p:cNvSpPr txBox="1">
            <a:spLocks/>
          </p:cNvSpPr>
          <p:nvPr/>
        </p:nvSpPr>
        <p:spPr>
          <a:xfrm rot="16200000">
            <a:off x="-1737280" y="3297178"/>
            <a:ext cx="457540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/>
                </a:solidFill>
              </a:rPr>
              <a:t>Multivariate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D26ED6-3E8D-4CA3-BE0D-1877AD47CA49}"/>
              </a:ext>
            </a:extLst>
          </p:cNvPr>
          <p:cNvSpPr/>
          <p:nvPr/>
        </p:nvSpPr>
        <p:spPr>
          <a:xfrm>
            <a:off x="4442791" y="5746562"/>
            <a:ext cx="506895" cy="50689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9478A-764E-45A7-ADF5-542A95CEB004}"/>
              </a:ext>
            </a:extLst>
          </p:cNvPr>
          <p:cNvSpPr txBox="1"/>
          <p:nvPr/>
        </p:nvSpPr>
        <p:spPr>
          <a:xfrm>
            <a:off x="8938743" y="1902372"/>
            <a:ext cx="28272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Pada </a:t>
            </a:r>
            <a:r>
              <a:rPr lang="en-US" dirty="0" err="1"/>
              <a:t>analissi</a:t>
            </a:r>
            <a:r>
              <a:rPr lang="en-US" dirty="0"/>
              <a:t> Multivariate,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GDPperkapita</a:t>
            </a:r>
            <a:r>
              <a:rPr lang="en-US" dirty="0"/>
              <a:t> dan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0.9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mendekati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1,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lain</a:t>
            </a:r>
          </a:p>
        </p:txBody>
      </p:sp>
    </p:spTree>
    <p:extLst>
      <p:ext uri="{BB962C8B-B14F-4D97-AF65-F5344CB8AC3E}">
        <p14:creationId xmlns:p14="http://schemas.microsoft.com/office/powerpoint/2010/main" val="3820172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Outliers Treatment</a:t>
            </a: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B6649B3-AB0C-4B9B-8770-1D3A2663C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64" y="1228761"/>
            <a:ext cx="8142143" cy="5277678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3F43AED-ECA8-4BB6-82DA-81B3603D4F8E}"/>
              </a:ext>
            </a:extLst>
          </p:cNvPr>
          <p:cNvSpPr txBox="1">
            <a:spLocks/>
          </p:cNvSpPr>
          <p:nvPr/>
        </p:nvSpPr>
        <p:spPr>
          <a:xfrm rot="16200000">
            <a:off x="-1914993" y="3119464"/>
            <a:ext cx="4930830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Sebelum</a:t>
            </a:r>
            <a:r>
              <a:rPr lang="en-US" sz="4000" dirty="0">
                <a:solidFill>
                  <a:schemeClr val="accent1"/>
                </a:solidFill>
              </a:rPr>
              <a:t> Treatment</a:t>
            </a:r>
          </a:p>
        </p:txBody>
      </p:sp>
    </p:spTree>
    <p:extLst>
      <p:ext uri="{BB962C8B-B14F-4D97-AF65-F5344CB8AC3E}">
        <p14:creationId xmlns:p14="http://schemas.microsoft.com/office/powerpoint/2010/main" val="1321760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Outliers Treatment</a:t>
            </a: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0F32E7F-BFA8-4AEC-AE20-F31025353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84" y="924339"/>
            <a:ext cx="8525484" cy="5526157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EB8FE8E-7C7A-4506-BB5D-36AAE64BBA1F}"/>
              </a:ext>
            </a:extLst>
          </p:cNvPr>
          <p:cNvSpPr txBox="1">
            <a:spLocks/>
          </p:cNvSpPr>
          <p:nvPr/>
        </p:nvSpPr>
        <p:spPr>
          <a:xfrm rot="16200000">
            <a:off x="-2081225" y="3252452"/>
            <a:ext cx="5380473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solidFill>
                  <a:schemeClr val="accent1"/>
                </a:solidFill>
              </a:rPr>
              <a:t>Sesudah</a:t>
            </a:r>
            <a:r>
              <a:rPr lang="en-US" sz="4000" dirty="0">
                <a:solidFill>
                  <a:schemeClr val="accent1"/>
                </a:solidFill>
              </a:rPr>
              <a:t> Treatment</a:t>
            </a:r>
          </a:p>
        </p:txBody>
      </p:sp>
    </p:spTree>
    <p:extLst>
      <p:ext uri="{BB962C8B-B14F-4D97-AF65-F5344CB8AC3E}">
        <p14:creationId xmlns:p14="http://schemas.microsoft.com/office/powerpoint/2010/main" val="894777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Outliers Treatment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874D7-56A6-4D76-835C-67A1ADB3D4EF}"/>
              </a:ext>
            </a:extLst>
          </p:cNvPr>
          <p:cNvSpPr txBox="1"/>
          <p:nvPr/>
        </p:nvSpPr>
        <p:spPr>
          <a:xfrm>
            <a:off x="1331843" y="1674674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Dari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,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data outlier </a:t>
            </a:r>
            <a:r>
              <a:rPr lang="en-US" dirty="0" err="1"/>
              <a:t>sebelum</a:t>
            </a:r>
            <a:r>
              <a:rPr lang="en-US" dirty="0"/>
              <a:t> dan </a:t>
            </a:r>
            <a:r>
              <a:rPr lang="en-US" dirty="0" err="1"/>
              <a:t>sesudah</a:t>
            </a:r>
            <a:r>
              <a:rPr lang="en-US" dirty="0"/>
              <a:t> treatment.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data outlier. Data outlier yang </a:t>
            </a:r>
            <a:r>
              <a:rPr lang="en-US" dirty="0" err="1"/>
              <a:t>ditemukan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 data (</a:t>
            </a:r>
            <a:r>
              <a:rPr lang="en-US" dirty="0" err="1"/>
              <a:t>droping</a:t>
            </a:r>
            <a:r>
              <a:rPr lang="en-US" dirty="0"/>
              <a:t>).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pengurangan</a:t>
            </a:r>
            <a:r>
              <a:rPr lang="en-US" dirty="0"/>
              <a:t> data. </a:t>
            </a:r>
            <a:r>
              <a:rPr lang="en-US" dirty="0" err="1"/>
              <a:t>Penghapusan</a:t>
            </a:r>
            <a:r>
              <a:rPr lang="en-US" dirty="0"/>
              <a:t> data outlier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range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lower bound (</a:t>
            </a:r>
            <a:r>
              <a:rPr lang="en-US" dirty="0" err="1"/>
              <a:t>Lb</a:t>
            </a:r>
            <a:r>
              <a:rPr lang="en-US" dirty="0"/>
              <a:t>) dan Upper bound (</a:t>
            </a:r>
            <a:r>
              <a:rPr lang="en-US" dirty="0" err="1"/>
              <a:t>Ub</a:t>
            </a:r>
            <a:r>
              <a:rPr lang="en-US" dirty="0"/>
              <a:t>)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FC221-6D3D-4F18-BBAA-F67C4029B8CD}"/>
              </a:ext>
            </a:extLst>
          </p:cNvPr>
          <p:cNvSpPr txBox="1"/>
          <p:nvPr/>
        </p:nvSpPr>
        <p:spPr>
          <a:xfrm>
            <a:off x="1331843" y="3662851"/>
            <a:ext cx="88060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Nilai lower bound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bisa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didapatkan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menggunakan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rumus</a:t>
            </a:r>
            <a:endParaRPr lang="en-US" b="0" i="0" dirty="0">
              <a:solidFill>
                <a:srgbClr val="313131"/>
              </a:solidFill>
              <a:effectLst/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Lb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=Q1 -(IQR 1.5)</a:t>
            </a:r>
          </a:p>
          <a:p>
            <a:pPr algn="l"/>
            <a:endParaRPr lang="en-US" b="0" i="0" dirty="0">
              <a:solidFill>
                <a:srgbClr val="313131"/>
              </a:solidFill>
              <a:effectLst/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Sementara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itu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,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nilai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upper bound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bisa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didapatkan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menggunakan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rumus</a:t>
            </a:r>
            <a:endParaRPr lang="en-US" b="0" i="0" dirty="0">
              <a:solidFill>
                <a:srgbClr val="313131"/>
              </a:solidFill>
              <a:effectLst/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Ub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=Q3+(IQR 1.5)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13131"/>
              </a:solidFill>
              <a:effectLst/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13131"/>
                </a:solidFill>
                <a:effectLst/>
                <a:latin typeface="+mj-lt"/>
              </a:rPr>
              <a:t>Dengan</a:t>
            </a:r>
            <a:r>
              <a:rPr lang="en-US" b="0" i="0" dirty="0">
                <a:solidFill>
                  <a:srgbClr val="313131"/>
                </a:solidFill>
                <a:effectLst/>
                <a:latin typeface="+mj-lt"/>
              </a:rPr>
              <a:t> IQR = Q3 - Q1.</a:t>
            </a:r>
          </a:p>
        </p:txBody>
      </p:sp>
    </p:spTree>
    <p:extLst>
      <p:ext uri="{BB962C8B-B14F-4D97-AF65-F5344CB8AC3E}">
        <p14:creationId xmlns:p14="http://schemas.microsoft.com/office/powerpoint/2010/main" val="1619795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Outliers Treatment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12F1582-9A32-4C60-9555-B8322E2F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461" y="1444411"/>
            <a:ext cx="4741040" cy="4741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A88D6-9091-471D-94E7-1170F45AF8F8}"/>
              </a:ext>
            </a:extLst>
          </p:cNvPr>
          <p:cNvSpPr txBox="1"/>
          <p:nvPr/>
        </p:nvSpPr>
        <p:spPr>
          <a:xfrm>
            <a:off x="7213323" y="2469081"/>
            <a:ext cx="4326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Setelah </a:t>
            </a:r>
            <a:r>
              <a:rPr lang="en-US" dirty="0" err="1"/>
              <a:t>dilakukan</a:t>
            </a:r>
            <a:r>
              <a:rPr lang="en-US" dirty="0"/>
              <a:t> treatment,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pengurangan</a:t>
            </a:r>
            <a:r>
              <a:rPr lang="en-US" dirty="0"/>
              <a:t> data </a:t>
            </a:r>
            <a:r>
              <a:rPr lang="en-US" dirty="0" err="1"/>
              <a:t>menjadi</a:t>
            </a:r>
            <a:r>
              <a:rPr lang="en-US" dirty="0"/>
              <a:t> 128 rows x 3 columns </a:t>
            </a:r>
            <a:r>
              <a:rPr lang="en-US" dirty="0" err="1"/>
              <a:t>dimana</a:t>
            </a:r>
            <a:r>
              <a:rPr lang="en-US" dirty="0"/>
              <a:t> data </a:t>
            </a:r>
            <a:r>
              <a:rPr lang="en-US" dirty="0" err="1"/>
              <a:t>awal</a:t>
            </a:r>
            <a:r>
              <a:rPr lang="en-US" dirty="0"/>
              <a:t>  </a:t>
            </a:r>
            <a:r>
              <a:rPr lang="en-US" dirty="0" err="1"/>
              <a:t>berukuran</a:t>
            </a:r>
            <a:r>
              <a:rPr lang="en-US" dirty="0"/>
              <a:t> 167 rows x 10 columns</a:t>
            </a:r>
          </a:p>
        </p:txBody>
      </p:sp>
    </p:spTree>
    <p:extLst>
      <p:ext uri="{BB962C8B-B14F-4D97-AF65-F5344CB8AC3E}">
        <p14:creationId xmlns:p14="http://schemas.microsoft.com/office/powerpoint/2010/main" val="1399984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Scaling Data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22AEFC1-6BB3-4DEC-B96B-D4EFE0ACA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0" y="1643842"/>
            <a:ext cx="5266450" cy="35703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38F7B1-5A3E-4A8A-9B0B-570E13250EAF}"/>
              </a:ext>
            </a:extLst>
          </p:cNvPr>
          <p:cNvSpPr txBox="1"/>
          <p:nvPr/>
        </p:nvSpPr>
        <p:spPr>
          <a:xfrm>
            <a:off x="6758609" y="1643842"/>
            <a:ext cx="3697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Karena data yang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GDPperkapita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scaling data </a:t>
            </a:r>
            <a:r>
              <a:rPr lang="en-US" dirty="0" err="1"/>
              <a:t>tersebut</a:t>
            </a:r>
            <a:r>
              <a:rPr lang="en-US" dirty="0"/>
              <a:t> dan </a:t>
            </a:r>
            <a:r>
              <a:rPr lang="en-US" dirty="0" err="1"/>
              <a:t>diperoleh</a:t>
            </a:r>
            <a:r>
              <a:rPr lang="en-US" dirty="0"/>
              <a:t> data scaling </a:t>
            </a:r>
            <a:r>
              <a:rPr lang="en-US" dirty="0" err="1"/>
              <a:t>dengan</a:t>
            </a:r>
            <a:r>
              <a:rPr lang="en-US" dirty="0"/>
              <a:t> range -1 </a:t>
            </a:r>
            <a:r>
              <a:rPr lang="en-US" dirty="0" err="1"/>
              <a:t>sampai</a:t>
            </a:r>
            <a:r>
              <a:rPr lang="en-US" dirty="0"/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10469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+mj-lt"/>
              </a:rPr>
              <a:t>Creating k means clustering and visualizing clusters formed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C83B03B1-E3E5-4D34-8781-D741CD42A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1402278"/>
            <a:ext cx="8306816" cy="52768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07AF3-EC83-4717-A00B-379B93D29197}"/>
              </a:ext>
            </a:extLst>
          </p:cNvPr>
          <p:cNvSpPr txBox="1"/>
          <p:nvPr/>
        </p:nvSpPr>
        <p:spPr>
          <a:xfrm>
            <a:off x="8736496" y="1776659"/>
            <a:ext cx="27730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Dilakukan</a:t>
            </a:r>
            <a:r>
              <a:rPr lang="en-US" dirty="0"/>
              <a:t> clustering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K means,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cluster 2. dan </a:t>
            </a:r>
            <a:r>
              <a:rPr lang="en-US" dirty="0" err="1"/>
              <a:t>diperoleh</a:t>
            </a:r>
            <a:r>
              <a:rPr lang="en-US" dirty="0"/>
              <a:t> cluster negara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GDPperkapita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(</a:t>
            </a:r>
            <a:r>
              <a:rPr lang="en-US" dirty="0" err="1"/>
              <a:t>biru</a:t>
            </a:r>
            <a:r>
              <a:rPr lang="en-US" dirty="0"/>
              <a:t>) dan </a:t>
            </a:r>
            <a:r>
              <a:rPr lang="en-US" dirty="0" err="1"/>
              <a:t>tinggi</a:t>
            </a:r>
            <a:r>
              <a:rPr lang="en-US" dirty="0"/>
              <a:t> (</a:t>
            </a:r>
            <a:r>
              <a:rPr lang="en-US" dirty="0" err="1"/>
              <a:t>merah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4901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+mj-lt"/>
              </a:rPr>
              <a:t>Creating k means clustering and visualizing clusters formed</a:t>
            </a:r>
          </a:p>
        </p:txBody>
      </p:sp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A68E7EDE-0C92-45AE-A022-54360366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79" y="1461108"/>
            <a:ext cx="7952085" cy="51049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9847FA-EB57-4A75-A4C9-3C2B12EAE638}"/>
              </a:ext>
            </a:extLst>
          </p:cNvPr>
          <p:cNvSpPr txBox="1"/>
          <p:nvPr/>
        </p:nvSpPr>
        <p:spPr>
          <a:xfrm>
            <a:off x="8646836" y="1975442"/>
            <a:ext cx="27730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elbow, </a:t>
            </a:r>
            <a:r>
              <a:rPr lang="en-US" dirty="0" err="1"/>
              <a:t>didapat</a:t>
            </a:r>
            <a:r>
              <a:rPr lang="en-US" dirty="0"/>
              <a:t> n ideal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3 (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diagram elbow).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clustering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 = 3.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B5BF19-075D-499A-A188-E259B306041B}"/>
              </a:ext>
            </a:extLst>
          </p:cNvPr>
          <p:cNvSpPr/>
          <p:nvPr/>
        </p:nvSpPr>
        <p:spPr>
          <a:xfrm>
            <a:off x="2126974" y="5237922"/>
            <a:ext cx="566530" cy="61622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74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+mj-lt"/>
              </a:rPr>
              <a:t>Creating k means clustering and visualizing clusters formed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810AC240-54F7-469A-B170-143E66AA5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53" y="1490870"/>
            <a:ext cx="7819798" cy="4967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7E792B-B02F-411F-AAD9-F57B0D555F8B}"/>
              </a:ext>
            </a:extLst>
          </p:cNvPr>
          <p:cNvSpPr txBox="1"/>
          <p:nvPr/>
        </p:nvSpPr>
        <p:spPr>
          <a:xfrm>
            <a:off x="8736496" y="1776659"/>
            <a:ext cx="27730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Dilakukan</a:t>
            </a:r>
            <a:r>
              <a:rPr lang="en-US" dirty="0"/>
              <a:t> clustering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K means,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cluster 3,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rekomendasi</a:t>
            </a:r>
            <a:r>
              <a:rPr lang="en-US" dirty="0"/>
              <a:t> elbow diagram. dan </a:t>
            </a:r>
            <a:r>
              <a:rPr lang="en-US" dirty="0" err="1"/>
              <a:t>diperoleh</a:t>
            </a:r>
            <a:r>
              <a:rPr lang="en-US" dirty="0"/>
              <a:t> cluster negara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GDPperkapita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(</a:t>
            </a:r>
            <a:r>
              <a:rPr lang="en-US" dirty="0" err="1"/>
              <a:t>abu-abu</a:t>
            </a:r>
            <a:r>
              <a:rPr lang="en-US" dirty="0"/>
              <a:t>), </a:t>
            </a:r>
            <a:r>
              <a:rPr lang="en-US" dirty="0" err="1"/>
              <a:t>menegah</a:t>
            </a:r>
            <a:r>
              <a:rPr lang="en-US" dirty="0"/>
              <a:t> (</a:t>
            </a:r>
            <a:r>
              <a:rPr lang="en-US" dirty="0" err="1"/>
              <a:t>biru</a:t>
            </a:r>
            <a:r>
              <a:rPr lang="en-US" dirty="0"/>
              <a:t>) dan </a:t>
            </a:r>
            <a:r>
              <a:rPr lang="en-US" dirty="0" err="1"/>
              <a:t>tinggi</a:t>
            </a:r>
            <a:r>
              <a:rPr lang="en-US" dirty="0"/>
              <a:t> (</a:t>
            </a:r>
            <a:r>
              <a:rPr lang="en-US" dirty="0" err="1"/>
              <a:t>merah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0616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+mj-lt"/>
              </a:rPr>
              <a:t>Creating k means clustering and visualizing clusters formed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D24D40A-296A-4AAC-BB77-BBD09F417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365" y="2621973"/>
            <a:ext cx="6123062" cy="2118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C71DC8-F7C9-4DCB-A2AC-41B6E43EEF6C}"/>
              </a:ext>
            </a:extLst>
          </p:cNvPr>
          <p:cNvSpPr txBox="1"/>
          <p:nvPr/>
        </p:nvSpPr>
        <p:spPr>
          <a:xfrm>
            <a:off x="8140149" y="2621973"/>
            <a:ext cx="27730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silhouette, </a:t>
            </a:r>
            <a:r>
              <a:rPr lang="en-US" dirty="0" err="1"/>
              <a:t>didapat</a:t>
            </a:r>
            <a:r>
              <a:rPr lang="en-US" dirty="0"/>
              <a:t> score </a:t>
            </a:r>
            <a:r>
              <a:rPr lang="en-US" dirty="0" err="1"/>
              <a:t>dengan</a:t>
            </a:r>
            <a:r>
              <a:rPr lang="en-US" dirty="0"/>
              <a:t> n = 2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n = 3, </a:t>
            </a:r>
            <a:r>
              <a:rPr lang="en-US" dirty="0" err="1"/>
              <a:t>maka</a:t>
            </a:r>
            <a:r>
              <a:rPr lang="en-US" dirty="0"/>
              <a:t> clustering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u="sng" dirty="0"/>
              <a:t>n = 2</a:t>
            </a:r>
            <a:r>
              <a:rPr lang="en-US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888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Analisis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0664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 err="1">
                <a:solidFill>
                  <a:schemeClr val="accent1"/>
                </a:solidFill>
                <a:effectLst/>
                <a:latin typeface="+mj-lt"/>
              </a:rPr>
              <a:t>Analisis</a:t>
            </a:r>
            <a:endParaRPr lang="en-US" sz="4000" b="1" i="0" dirty="0">
              <a:solidFill>
                <a:schemeClr val="accent1"/>
              </a:solidFill>
              <a:effectLst/>
              <a:latin typeface="+mj-lt"/>
            </a:endParaRPr>
          </a:p>
        </p:txBody>
      </p:sp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2302FA8-7FE8-4EE0-A552-0CECC48D1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48" y="1331845"/>
            <a:ext cx="10502400" cy="45106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70A1A1-0BDD-4544-9ACB-ED7B402D422E}"/>
              </a:ext>
            </a:extLst>
          </p:cNvPr>
          <p:cNvSpPr txBox="1"/>
          <p:nvPr/>
        </p:nvSpPr>
        <p:spPr>
          <a:xfrm>
            <a:off x="1530626" y="5842491"/>
            <a:ext cx="786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Didapat</a:t>
            </a:r>
            <a:r>
              <a:rPr lang="en-US" dirty="0"/>
              <a:t> data negara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GDPperkapita</a:t>
            </a:r>
            <a:r>
              <a:rPr lang="en-US" dirty="0"/>
              <a:t> dan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99 negara.</a:t>
            </a:r>
          </a:p>
        </p:txBody>
      </p:sp>
    </p:spTree>
    <p:extLst>
      <p:ext uri="{BB962C8B-B14F-4D97-AF65-F5344CB8AC3E}">
        <p14:creationId xmlns:p14="http://schemas.microsoft.com/office/powerpoint/2010/main" val="197581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 err="1">
                <a:solidFill>
                  <a:schemeClr val="accent1"/>
                </a:solidFill>
                <a:effectLst/>
                <a:latin typeface="+mj-lt"/>
              </a:rPr>
              <a:t>Analisis</a:t>
            </a:r>
            <a:endParaRPr lang="en-US" sz="4000" b="1" i="0" dirty="0">
              <a:solidFill>
                <a:schemeClr val="accent1"/>
              </a:solidFill>
              <a:effectLst/>
              <a:latin typeface="+mj-lt"/>
            </a:endParaRPr>
          </a:p>
        </p:txBody>
      </p:sp>
      <p:pic>
        <p:nvPicPr>
          <p:cNvPr id="5" name="Picture 4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75EED28F-D954-48A7-8669-31BD1D0C9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57" y="1490870"/>
            <a:ext cx="10670105" cy="30892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77C8B-E7AF-409D-9EE7-AD4F073DD5DE}"/>
              </a:ext>
            </a:extLst>
          </p:cNvPr>
          <p:cNvSpPr txBox="1"/>
          <p:nvPr/>
        </p:nvSpPr>
        <p:spPr>
          <a:xfrm>
            <a:off x="1083365" y="4905465"/>
            <a:ext cx="89849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Negara yang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rata </a:t>
            </a:r>
            <a:r>
              <a:rPr lang="en-US" dirty="0" err="1"/>
              <a:t>rata</a:t>
            </a:r>
            <a:r>
              <a:rPr lang="en-US" dirty="0"/>
              <a:t> </a:t>
            </a:r>
            <a:r>
              <a:rPr lang="en-US" dirty="0" err="1"/>
              <a:t>kematian_anak</a:t>
            </a:r>
            <a:r>
              <a:rPr lang="en-US" dirty="0"/>
              <a:t> 47.57, </a:t>
            </a:r>
            <a:r>
              <a:rPr lang="en-US" dirty="0" err="1"/>
              <a:t>ekspor</a:t>
            </a:r>
            <a:r>
              <a:rPr lang="en-US" dirty="0"/>
              <a:t> 34,18, Kesehatan 6.15, </a:t>
            </a:r>
            <a:r>
              <a:rPr lang="en-US" dirty="0" err="1"/>
              <a:t>impor</a:t>
            </a:r>
            <a:r>
              <a:rPr lang="en-US" dirty="0"/>
              <a:t> 44.99, </a:t>
            </a:r>
            <a:r>
              <a:rPr lang="en-US" dirty="0" err="1"/>
              <a:t>pendapatam</a:t>
            </a:r>
            <a:r>
              <a:rPr lang="en-US" dirty="0"/>
              <a:t> 6870.51, </a:t>
            </a:r>
            <a:r>
              <a:rPr lang="en-US" dirty="0" err="1"/>
              <a:t>Inflasi</a:t>
            </a:r>
            <a:r>
              <a:rPr lang="en-US" dirty="0"/>
              <a:t> 7.94, </a:t>
            </a:r>
            <a:r>
              <a:rPr lang="en-US" dirty="0" err="1"/>
              <a:t>harapan</a:t>
            </a:r>
            <a:r>
              <a:rPr lang="en-US" dirty="0"/>
              <a:t> </a:t>
            </a:r>
            <a:r>
              <a:rPr lang="en-US" dirty="0" err="1"/>
              <a:t>hidup</a:t>
            </a:r>
            <a:r>
              <a:rPr lang="en-US" dirty="0"/>
              <a:t> 67.7, </a:t>
            </a:r>
            <a:r>
              <a:rPr lang="en-US" dirty="0" err="1"/>
              <a:t>jumlah</a:t>
            </a:r>
            <a:r>
              <a:rPr lang="en-US" dirty="0"/>
              <a:t> fertility 3.3 dan GDP </a:t>
            </a:r>
            <a:r>
              <a:rPr lang="en-US" dirty="0" err="1"/>
              <a:t>perkapita</a:t>
            </a:r>
            <a:r>
              <a:rPr lang="en-US" dirty="0"/>
              <a:t> 3230.42.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Range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609 dan 17800 </a:t>
            </a:r>
            <a:r>
              <a:rPr lang="en-US" dirty="0" err="1"/>
              <a:t>sedangkan</a:t>
            </a:r>
            <a:r>
              <a:rPr lang="en-US" dirty="0"/>
              <a:t> range GDP per </a:t>
            </a:r>
            <a:r>
              <a:rPr lang="en-US" dirty="0" err="1"/>
              <a:t>kapita</a:t>
            </a:r>
            <a:r>
              <a:rPr lang="en-US" dirty="0"/>
              <a:t> 231 dan 11200.</a:t>
            </a:r>
          </a:p>
        </p:txBody>
      </p:sp>
    </p:spTree>
    <p:extLst>
      <p:ext uri="{BB962C8B-B14F-4D97-AF65-F5344CB8AC3E}">
        <p14:creationId xmlns:p14="http://schemas.microsoft.com/office/powerpoint/2010/main" val="39996436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 err="1">
                <a:solidFill>
                  <a:schemeClr val="accent1"/>
                </a:solidFill>
                <a:effectLst/>
                <a:latin typeface="+mj-lt"/>
              </a:rPr>
              <a:t>Analisis</a:t>
            </a:r>
            <a:endParaRPr lang="en-US" sz="4000" b="1" i="0" dirty="0">
              <a:solidFill>
                <a:schemeClr val="accent1"/>
              </a:solidFill>
              <a:effectLst/>
              <a:latin typeface="+mj-lt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7972A60-7F7A-4C2C-83CF-6D073B2FF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14" y="2661973"/>
            <a:ext cx="11177511" cy="22226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BF1AE7-FCB9-495C-A729-EE52A184B46A}"/>
              </a:ext>
            </a:extLst>
          </p:cNvPr>
          <p:cNvSpPr txBox="1"/>
          <p:nvPr/>
        </p:nvSpPr>
        <p:spPr>
          <a:xfrm>
            <a:off x="566530" y="1753256"/>
            <a:ext cx="938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clustering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dan </a:t>
            </a:r>
            <a:r>
              <a:rPr lang="en-US" dirty="0" err="1"/>
              <a:t>GDPperkapita</a:t>
            </a:r>
            <a:r>
              <a:rPr lang="en-US" dirty="0"/>
              <a:t>, </a:t>
            </a:r>
            <a:r>
              <a:rPr lang="en-US" dirty="0" err="1"/>
              <a:t>didapat</a:t>
            </a:r>
            <a:r>
              <a:rPr lang="en-US" dirty="0"/>
              <a:t> negara yang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42669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Kesimpulan</a:t>
            </a:r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3550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7A2D0-CA9A-473B-B2BB-43DBEB0A6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291926"/>
            <a:ext cx="11573197" cy="1198944"/>
          </a:xfrm>
        </p:spPr>
        <p:txBody>
          <a:bodyPr/>
          <a:lstStyle/>
          <a:p>
            <a:r>
              <a:rPr lang="en-US" sz="4000" b="1" i="0" dirty="0">
                <a:solidFill>
                  <a:schemeClr val="accent1"/>
                </a:solidFill>
                <a:effectLst/>
                <a:latin typeface="+mj-lt"/>
              </a:rPr>
              <a:t>Kesimpulan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7972A60-7F7A-4C2C-83CF-6D073B2FF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4" y="2661973"/>
            <a:ext cx="11177511" cy="2222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A536AE-AD04-4744-8DEA-91982F7D0207}"/>
              </a:ext>
            </a:extLst>
          </p:cNvPr>
          <p:cNvSpPr txBox="1"/>
          <p:nvPr/>
        </p:nvSpPr>
        <p:spPr>
          <a:xfrm>
            <a:off x="566530" y="1753256"/>
            <a:ext cx="938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clustering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r>
              <a:rPr lang="en-US" dirty="0"/>
              <a:t> dan </a:t>
            </a:r>
            <a:r>
              <a:rPr lang="en-US" dirty="0" err="1"/>
              <a:t>GDPperkapita</a:t>
            </a:r>
            <a:r>
              <a:rPr lang="en-US" dirty="0"/>
              <a:t>, </a:t>
            </a:r>
            <a:r>
              <a:rPr lang="en-US" dirty="0" err="1"/>
              <a:t>didapat</a:t>
            </a:r>
            <a:r>
              <a:rPr lang="en-US" dirty="0"/>
              <a:t> negara yang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E1EB7-5D0B-4CD9-A828-244238B914D0}"/>
              </a:ext>
            </a:extLst>
          </p:cNvPr>
          <p:cNvSpPr txBox="1"/>
          <p:nvPr/>
        </p:nvSpPr>
        <p:spPr>
          <a:xfrm>
            <a:off x="323528" y="5352078"/>
            <a:ext cx="10398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range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609 dan 17800 </a:t>
            </a:r>
            <a:r>
              <a:rPr lang="en-US" dirty="0" err="1"/>
              <a:t>sedangkan</a:t>
            </a:r>
            <a:r>
              <a:rPr lang="en-US" dirty="0"/>
              <a:t> range GDP per </a:t>
            </a:r>
            <a:r>
              <a:rPr lang="en-US" dirty="0" err="1"/>
              <a:t>kapita</a:t>
            </a:r>
            <a:r>
              <a:rPr lang="en-US" dirty="0"/>
              <a:t> 231 dan 11200</a:t>
            </a:r>
          </a:p>
        </p:txBody>
      </p:sp>
    </p:spTree>
    <p:extLst>
      <p:ext uri="{BB962C8B-B14F-4D97-AF65-F5344CB8AC3E}">
        <p14:creationId xmlns:p14="http://schemas.microsoft.com/office/powerpoint/2010/main" val="3727624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ABC50D-6724-4E96-9A1E-8E5685E06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3066876"/>
            <a:ext cx="11573197" cy="724247"/>
          </a:xfrm>
        </p:spPr>
        <p:txBody>
          <a:bodyPr/>
          <a:lstStyle/>
          <a:p>
            <a:r>
              <a:rPr lang="en-US" sz="6000" dirty="0">
                <a:latin typeface="Algerian" panose="04020705040A02060702" pitchFamily="82" charset="0"/>
                <a:ea typeface="STXingkai" panose="020B0503020204020204" pitchFamily="2" charset="-122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8944063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2293</TotalTime>
  <Words>865</Words>
  <Application>Microsoft Office PowerPoint</Application>
  <PresentationFormat>Widescreen</PresentationFormat>
  <Paragraphs>117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 Unicode MS</vt:lpstr>
      <vt:lpstr>Rubik</vt:lpstr>
      <vt:lpstr>Aharoni</vt:lpstr>
      <vt:lpstr>Algerian</vt:lpstr>
      <vt:lpstr>Arial</vt:lpstr>
      <vt:lpstr>Calibri</vt:lpstr>
      <vt:lpstr>Cover and End Slide Master</vt:lpstr>
      <vt:lpstr>Contents Slide Master</vt:lpstr>
      <vt:lpstr>Section Break Slide Master</vt:lpstr>
      <vt:lpstr>FINAL PROJECT Data Science with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krieshandy</cp:lastModifiedBy>
  <cp:revision>94</cp:revision>
  <dcterms:created xsi:type="dcterms:W3CDTF">2018-04-24T17:14:44Z</dcterms:created>
  <dcterms:modified xsi:type="dcterms:W3CDTF">2021-08-09T00:31:41Z</dcterms:modified>
</cp:coreProperties>
</file>