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</p:sldMasterIdLst>
  <p:notesMasterIdLst>
    <p:notesMasterId r:id="rId44"/>
  </p:notesMasterIdLst>
  <p:sldIdLst>
    <p:sldId id="268" r:id="rId5"/>
    <p:sldId id="330" r:id="rId6"/>
    <p:sldId id="357" r:id="rId7"/>
    <p:sldId id="311" r:id="rId8"/>
    <p:sldId id="349" r:id="rId9"/>
    <p:sldId id="350" r:id="rId10"/>
    <p:sldId id="351" r:id="rId11"/>
    <p:sldId id="338" r:id="rId12"/>
    <p:sldId id="344" r:id="rId13"/>
    <p:sldId id="354" r:id="rId14"/>
    <p:sldId id="355" r:id="rId15"/>
    <p:sldId id="348" r:id="rId16"/>
    <p:sldId id="347" r:id="rId17"/>
    <p:sldId id="319" r:id="rId18"/>
    <p:sldId id="342" r:id="rId19"/>
    <p:sldId id="345" r:id="rId20"/>
    <p:sldId id="352" r:id="rId21"/>
    <p:sldId id="353" r:id="rId22"/>
    <p:sldId id="363" r:id="rId23"/>
    <p:sldId id="327" r:id="rId24"/>
    <p:sldId id="358" r:id="rId25"/>
    <p:sldId id="328" r:id="rId26"/>
    <p:sldId id="329" r:id="rId27"/>
    <p:sldId id="359" r:id="rId28"/>
    <p:sldId id="340" r:id="rId29"/>
    <p:sldId id="339" r:id="rId30"/>
    <p:sldId id="341" r:id="rId31"/>
    <p:sldId id="360" r:id="rId32"/>
    <p:sldId id="361" r:id="rId33"/>
    <p:sldId id="362" r:id="rId34"/>
    <p:sldId id="325" r:id="rId35"/>
    <p:sldId id="326" r:id="rId36"/>
    <p:sldId id="312" r:id="rId37"/>
    <p:sldId id="333" r:id="rId38"/>
    <p:sldId id="313" r:id="rId39"/>
    <p:sldId id="334" r:id="rId40"/>
    <p:sldId id="336" r:id="rId41"/>
    <p:sldId id="335" r:id="rId42"/>
    <p:sldId id="337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90" autoAdjust="0"/>
    <p:restoredTop sz="94619" autoAdjust="0"/>
  </p:normalViewPr>
  <p:slideViewPr>
    <p:cSldViewPr snapToGrid="0">
      <p:cViewPr varScale="1">
        <p:scale>
          <a:sx n="64" d="100"/>
          <a:sy n="64" d="100"/>
        </p:scale>
        <p:origin x="68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657F74-F5C8-46E4-80BE-1A5734F06C01}" type="datetimeFigureOut">
              <a:rPr lang="en-US" smtClean="0"/>
              <a:t>14-Jan-22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6435FA-32B8-48DF-93B1-E1DDBFD09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57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A52C9-69DB-496E-9310-2A0C5E4E5BAA}" type="datetime1">
              <a:rPr lang="en-US" smtClean="0"/>
              <a:t>14-Jan-22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B0D97-6FF2-495A-A158-50E58A0B6C2E}" type="datetime1">
              <a:rPr lang="en-US" smtClean="0"/>
              <a:t>14-Jan-22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D6D0-77A6-448A-8109-AA614F6F62EC}" type="datetime1">
              <a:rPr lang="en-US" smtClean="0"/>
              <a:t>14-Jan-22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DC88A-8F7F-4292-A704-33E38DDDFB21}" type="datetime1">
              <a:rPr lang="en-US" smtClean="0"/>
              <a:t>14-Jan-22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25EC-22ED-4AF8-94AF-E6A6620A423D}" type="datetime1">
              <a:rPr lang="en-US" smtClean="0"/>
              <a:t>14-Jan-22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352D1-73DF-4AEB-8EEA-D97D42064E87}" type="datetime1">
              <a:rPr lang="en-US" smtClean="0"/>
              <a:t>14-Jan-22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933B8-1922-4CF9-8593-F71DC70170C5}" type="datetime1">
              <a:rPr lang="en-US" smtClean="0"/>
              <a:t>14-Jan-22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ADC4B804-2527-4D32-AF37-CA9A0AD8046F}" type="datetime1">
              <a:rPr lang="en-US" smtClean="0"/>
              <a:t>14-Jan-22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CA23DB-7E5F-4639-B6E3-C4B89999D1FC}" type="datetime1">
              <a:rPr lang="en-US" smtClean="0"/>
              <a:t>14-Jan-22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8BE797F7-C5BA-48DB-8F00-508D00A16104}" type="datetime1">
              <a:rPr lang="en-US" smtClean="0"/>
              <a:t>14-Jan-22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8000" dirty="0"/>
              <a:t>White Wine Quality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Kriesnawa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handy s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08AC96E-AA33-4309-B51D-072F59E6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6686" y="1"/>
            <a:ext cx="463531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93E63-7DA2-4FF1-96E3-85B266DEB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CFBEE-A422-485A-8D75-3ABE8BB37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2029969"/>
            <a:ext cx="10735056" cy="406772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 </a:t>
            </a:r>
            <a:r>
              <a:rPr lang="en-US" sz="2400" i="0" dirty="0">
                <a:solidFill>
                  <a:srgbClr val="000000"/>
                </a:solidFill>
                <a:effectLst/>
              </a:rPr>
              <a:t>Today, varied consumers enjoy wine more and more.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i="0" dirty="0">
                <a:solidFill>
                  <a:srgbClr val="000000"/>
                </a:solidFill>
                <a:effectLst/>
              </a:rPr>
              <a:t>Wine industry is researching new technologies for both wine making and selling processes in order to back up this growth.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00000"/>
                </a:solidFill>
                <a:effectLst/>
              </a:rPr>
              <a:t> Determination of wines </a:t>
            </a:r>
            <a:r>
              <a:rPr lang="en-US" sz="2400" i="0" dirty="0">
                <a:solidFill>
                  <a:srgbClr val="000000"/>
                </a:solidFill>
                <a:effectLst/>
              </a:rPr>
              <a:t>is not an easy process remembering to the complexity and heterogeneity of its </a:t>
            </a:r>
            <a:r>
              <a:rPr lang="en-US" sz="2400" i="0" dirty="0" err="1">
                <a:solidFill>
                  <a:srgbClr val="000000"/>
                </a:solidFill>
                <a:effectLst/>
              </a:rPr>
              <a:t>compenents</a:t>
            </a:r>
            <a:r>
              <a:rPr lang="en-US" sz="2400" i="0" dirty="0">
                <a:solidFill>
                  <a:srgbClr val="000000"/>
                </a:solidFill>
                <a:effectLst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000000"/>
                </a:solidFill>
                <a:effectLst/>
              </a:rPr>
              <a:t> The </a:t>
            </a:r>
            <a:r>
              <a:rPr lang="en-US" sz="2400" b="1" i="0" dirty="0">
                <a:solidFill>
                  <a:srgbClr val="000000"/>
                </a:solidFill>
                <a:effectLst/>
              </a:rPr>
              <a:t>classification of wines </a:t>
            </a:r>
            <a:r>
              <a:rPr lang="en-US" sz="2400" i="0" dirty="0">
                <a:solidFill>
                  <a:srgbClr val="000000"/>
                </a:solidFill>
                <a:effectLst/>
              </a:rPr>
              <a:t>is very important because of economic value of wine products, </a:t>
            </a:r>
            <a:r>
              <a:rPr lang="en-US" sz="2400" dirty="0">
                <a:solidFill>
                  <a:schemeClr val="tx1"/>
                </a:solidFill>
              </a:rPr>
              <a:t>A bottle of wine is priced based on its quality.</a:t>
            </a:r>
            <a:endParaRPr lang="en-US" sz="2400" i="0" dirty="0">
              <a:solidFill>
                <a:srgbClr val="000000"/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200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43F5A-BFD3-490A-9CF7-B9C9A82B1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46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BFC1-5F1A-420E-996A-03C0E2B25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E4B76-24E0-4191-A4DD-6445D939E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 We can use machine learning model that can predict the quality of wine and help the wine maker setting the go to market price.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4F47A5-390C-4CEB-99B7-546307311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665" y="3291839"/>
            <a:ext cx="1428237" cy="2743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BDD30D-C2E3-4647-89AA-396AFA5E3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611" y="3291839"/>
            <a:ext cx="1511961" cy="274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63DEC5-3303-4897-9D0B-7F1E639F5C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6102" y="3291839"/>
            <a:ext cx="1443287" cy="274320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A936352-27FE-4753-9C24-16F80FE34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149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3812D-36EE-4464-ABDA-D18671E0C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54A04-987C-44B9-9272-3DB5256E2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Determine the correlation between quality of wine and its 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Predict the quality of wine, according to its 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Determine the components that has the greatest impact on quality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F4B1B4-CAAC-495D-B6A1-CCAC8D59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155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Content Placeholder 24">
            <a:extLst>
              <a:ext uri="{FF2B5EF4-FFF2-40B4-BE49-F238E27FC236}">
                <a16:creationId xmlns:a16="http://schemas.microsoft.com/office/drawing/2014/main" id="{E698B985-F0C6-4711-9A5D-759A825EDA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1332" y="2321960"/>
            <a:ext cx="10689336" cy="3134090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B449F1D0-2C0D-4C48-89BD-C30CED951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8E7829-8FB5-44DE-845F-6A2B96C1B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375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BF896-5D66-4982-A29A-EF125A2E5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9F7D7157-EE40-4374-9DCC-06B7AE099D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79" y="2098496"/>
            <a:ext cx="10332117" cy="376293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807A40-B6EB-4E26-A9D1-970A2B847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36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F0A37D-2337-4AAF-98B0-7E4E9B98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27DD6F-9BC8-4500-9F95-F4A14AF2B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Data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CCCF0-E573-463A-9760-1FDC0B2C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F7234D70-FB65-4E99-985E-64D219674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8835D11-07C2-4E20-8DE9-FB2178140F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4721876"/>
              </p:ext>
            </p:extLst>
          </p:nvPr>
        </p:nvGraphicFramePr>
        <p:xfrm>
          <a:off x="407504" y="2204503"/>
          <a:ext cx="11618844" cy="372915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82872">
                  <a:extLst>
                    <a:ext uri="{9D8B030D-6E8A-4147-A177-3AD203B41FA5}">
                      <a16:colId xmlns:a16="http://schemas.microsoft.com/office/drawing/2014/main" val="309837702"/>
                    </a:ext>
                  </a:extLst>
                </a:gridCol>
                <a:gridCol w="1057719">
                  <a:extLst>
                    <a:ext uri="{9D8B030D-6E8A-4147-A177-3AD203B41FA5}">
                      <a16:colId xmlns:a16="http://schemas.microsoft.com/office/drawing/2014/main" val="1771074535"/>
                    </a:ext>
                  </a:extLst>
                </a:gridCol>
                <a:gridCol w="1241671">
                  <a:extLst>
                    <a:ext uri="{9D8B030D-6E8A-4147-A177-3AD203B41FA5}">
                      <a16:colId xmlns:a16="http://schemas.microsoft.com/office/drawing/2014/main" val="4217487145"/>
                    </a:ext>
                  </a:extLst>
                </a:gridCol>
                <a:gridCol w="850774">
                  <a:extLst>
                    <a:ext uri="{9D8B030D-6E8A-4147-A177-3AD203B41FA5}">
                      <a16:colId xmlns:a16="http://schemas.microsoft.com/office/drawing/2014/main" val="3238050185"/>
                    </a:ext>
                  </a:extLst>
                </a:gridCol>
                <a:gridCol w="1195682">
                  <a:extLst>
                    <a:ext uri="{9D8B030D-6E8A-4147-A177-3AD203B41FA5}">
                      <a16:colId xmlns:a16="http://schemas.microsoft.com/office/drawing/2014/main" val="2298685631"/>
                    </a:ext>
                  </a:extLst>
                </a:gridCol>
                <a:gridCol w="781792">
                  <a:extLst>
                    <a:ext uri="{9D8B030D-6E8A-4147-A177-3AD203B41FA5}">
                      <a16:colId xmlns:a16="http://schemas.microsoft.com/office/drawing/2014/main" val="1351091572"/>
                    </a:ext>
                  </a:extLst>
                </a:gridCol>
                <a:gridCol w="972673">
                  <a:extLst>
                    <a:ext uri="{9D8B030D-6E8A-4147-A177-3AD203B41FA5}">
                      <a16:colId xmlns:a16="http://schemas.microsoft.com/office/drawing/2014/main" val="2288950613"/>
                    </a:ext>
                  </a:extLst>
                </a:gridCol>
                <a:gridCol w="705883">
                  <a:extLst>
                    <a:ext uri="{9D8B030D-6E8A-4147-A177-3AD203B41FA5}">
                      <a16:colId xmlns:a16="http://schemas.microsoft.com/office/drawing/2014/main" val="212885914"/>
                    </a:ext>
                  </a:extLst>
                </a:gridCol>
                <a:gridCol w="758799">
                  <a:extLst>
                    <a:ext uri="{9D8B030D-6E8A-4147-A177-3AD203B41FA5}">
                      <a16:colId xmlns:a16="http://schemas.microsoft.com/office/drawing/2014/main" val="2951648907"/>
                    </a:ext>
                  </a:extLst>
                </a:gridCol>
                <a:gridCol w="804787">
                  <a:extLst>
                    <a:ext uri="{9D8B030D-6E8A-4147-A177-3AD203B41FA5}">
                      <a16:colId xmlns:a16="http://schemas.microsoft.com/office/drawing/2014/main" val="2751612020"/>
                    </a:ext>
                  </a:extLst>
                </a:gridCol>
                <a:gridCol w="880691">
                  <a:extLst>
                    <a:ext uri="{9D8B030D-6E8A-4147-A177-3AD203B41FA5}">
                      <a16:colId xmlns:a16="http://schemas.microsoft.com/office/drawing/2014/main" val="3248086618"/>
                    </a:ext>
                  </a:extLst>
                </a:gridCol>
                <a:gridCol w="758799">
                  <a:extLst>
                    <a:ext uri="{9D8B030D-6E8A-4147-A177-3AD203B41FA5}">
                      <a16:colId xmlns:a16="http://schemas.microsoft.com/office/drawing/2014/main" val="2912040845"/>
                    </a:ext>
                  </a:extLst>
                </a:gridCol>
                <a:gridCol w="1126702">
                  <a:extLst>
                    <a:ext uri="{9D8B030D-6E8A-4147-A177-3AD203B41FA5}">
                      <a16:colId xmlns:a16="http://schemas.microsoft.com/office/drawing/2014/main" val="335362038"/>
                    </a:ext>
                  </a:extLst>
                </a:gridCol>
              </a:tblGrid>
              <a:tr h="83756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</a:rPr>
                        <a:t>fixed_</a:t>
                      </a:r>
                    </a:p>
                    <a:p>
                      <a:pPr algn="ctr" fontAlgn="ctr"/>
                      <a:r>
                        <a:rPr lang="en-US" sz="1400" b="1" u="none" strike="noStrike" dirty="0">
                          <a:effectLst/>
                        </a:rPr>
                        <a:t>acidity</a:t>
                      </a:r>
                      <a:endParaRPr lang="en-US" sz="140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</a:rPr>
                        <a:t>volatile_</a:t>
                      </a:r>
                    </a:p>
                    <a:p>
                      <a:pPr algn="ctr" fontAlgn="ctr"/>
                      <a:r>
                        <a:rPr lang="en-US" sz="1400" b="1" u="none" strike="noStrike" dirty="0">
                          <a:effectLst/>
                        </a:rPr>
                        <a:t>acidity</a:t>
                      </a:r>
                      <a:endParaRPr lang="en-US" sz="140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 err="1">
                          <a:effectLst/>
                        </a:rPr>
                        <a:t>citric_acid</a:t>
                      </a:r>
                      <a:endParaRPr lang="en-US" sz="140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 err="1">
                          <a:effectLst/>
                        </a:rPr>
                        <a:t>residual_sugar</a:t>
                      </a:r>
                      <a:endParaRPr lang="en-US" sz="140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</a:rPr>
                        <a:t>chlorides</a:t>
                      </a:r>
                      <a:endParaRPr lang="en-US" sz="140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 err="1">
                          <a:effectLst/>
                        </a:rPr>
                        <a:t>free_sulfur</a:t>
                      </a:r>
                      <a:endParaRPr lang="en-US" sz="1400" b="1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en-US" sz="1400" b="1" u="none" strike="noStrike" dirty="0">
                          <a:effectLst/>
                        </a:rPr>
                        <a:t>_dioxide</a:t>
                      </a:r>
                      <a:endParaRPr lang="en-US" sz="140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</a:rPr>
                        <a:t>density</a:t>
                      </a:r>
                      <a:endParaRPr lang="en-US" sz="140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</a:rPr>
                        <a:t>pH</a:t>
                      </a:r>
                      <a:endParaRPr lang="en-US" sz="140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effectLst/>
                        </a:rPr>
                        <a:t>sulphates</a:t>
                      </a:r>
                      <a:endParaRPr lang="en-US" sz="1400" b="1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</a:rPr>
                        <a:t>alcohol</a:t>
                      </a:r>
                      <a:endParaRPr lang="en-US" sz="140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</a:rPr>
                        <a:t>quality</a:t>
                      </a:r>
                      <a:endParaRPr lang="en-US" sz="140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 err="1">
                          <a:effectLst/>
                        </a:rPr>
                        <a:t>bound_sulfur</a:t>
                      </a:r>
                      <a:endParaRPr lang="en-US" sz="1400" b="1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en-US" sz="1400" b="1" u="none" strike="noStrike" dirty="0">
                          <a:effectLst/>
                        </a:rPr>
                        <a:t>_dioxide</a:t>
                      </a:r>
                      <a:endParaRPr lang="en-US" sz="140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38536860"/>
                  </a:ext>
                </a:extLst>
              </a:tr>
              <a:tr h="5783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count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4898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4898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4898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4898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4898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4898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4898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4898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4898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4898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4898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4898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extLst>
                  <a:ext uri="{0D108BD9-81ED-4DB2-BD59-A6C34878D82A}">
                    <a16:rowId xmlns:a16="http://schemas.microsoft.com/office/drawing/2014/main" val="782936464"/>
                  </a:ext>
                </a:extLst>
              </a:tr>
              <a:tr h="5783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mean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6.854788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0.278241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0.334192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6.391415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0.04577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35.308085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0.99403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3.18827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0.489847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10.51427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5.87791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103.052572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extLst>
                  <a:ext uri="{0D108BD9-81ED-4DB2-BD59-A6C34878D82A}">
                    <a16:rowId xmlns:a16="http://schemas.microsoft.com/office/drawing/2014/main" val="1406694214"/>
                  </a:ext>
                </a:extLst>
              </a:tr>
              <a:tr h="5783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std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0.843868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0.100795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0.12102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5.072058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0.02185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17.007137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0.00299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0.151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0.114126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1.230621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0.88564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34.7217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extLst>
                  <a:ext uri="{0D108BD9-81ED-4DB2-BD59-A6C34878D82A}">
                    <a16:rowId xmlns:a16="http://schemas.microsoft.com/office/drawing/2014/main" val="1167305643"/>
                  </a:ext>
                </a:extLst>
              </a:tr>
              <a:tr h="5783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min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3.8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0.08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0.6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0.009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0.98711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2.72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0.22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8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3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4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extLst>
                  <a:ext uri="{0D108BD9-81ED-4DB2-BD59-A6C34878D82A}">
                    <a16:rowId xmlns:a16="http://schemas.microsoft.com/office/drawing/2014/main" val="4266931854"/>
                  </a:ext>
                </a:extLst>
              </a:tr>
              <a:tr h="5783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max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14.2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1.1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1.66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65.8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0.346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289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1.03898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3.82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1.08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14.2</a:t>
                      </a:r>
                      <a:endParaRPr lang="en-US" sz="14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9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331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25400" marB="25400" anchor="ctr"/>
                </a:tc>
                <a:extLst>
                  <a:ext uri="{0D108BD9-81ED-4DB2-BD59-A6C34878D82A}">
                    <a16:rowId xmlns:a16="http://schemas.microsoft.com/office/drawing/2014/main" val="56439887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457F3B-3D52-4D3E-8F4B-49539C441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768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4D0E555-16F6-44D0-BF56-AF5FF5BDE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117041D-1A7B-4ECA-AB68-3CFDB6726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6220" y="0"/>
            <a:ext cx="4641314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446A2A-FC05-4383-B943-C99969FCF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69" y="640080"/>
            <a:ext cx="3659246" cy="286269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100" dirty="0">
                <a:solidFill>
                  <a:srgbClr val="FFFFFF"/>
                </a:solidFill>
              </a:rPr>
              <a:t>Correlation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BCD2462-4C1E-401A-AC2D-F799A138B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3852" y="3663649"/>
            <a:ext cx="3383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Content Placeholder 26" descr="Chart&#10;&#10;Description automatically generated">
            <a:extLst>
              <a:ext uri="{FF2B5EF4-FFF2-40B4-BE49-F238E27FC236}">
                <a16:creationId xmlns:a16="http://schemas.microsoft.com/office/drawing/2014/main" id="{B5B8BB48-728D-4055-9324-754E295375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68967" y="872719"/>
            <a:ext cx="7467371" cy="5581859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0B4972E4-AB90-4762-8485-AB2F3F4CA1C6}"/>
              </a:ext>
            </a:extLst>
          </p:cNvPr>
          <p:cNvSpPr/>
          <p:nvPr/>
        </p:nvSpPr>
        <p:spPr>
          <a:xfrm>
            <a:off x="5067300" y="4686300"/>
            <a:ext cx="596900" cy="3301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7FE2CAD-FD59-4996-B5C0-C743D529A476}"/>
              </a:ext>
            </a:extLst>
          </p:cNvPr>
          <p:cNvSpPr/>
          <p:nvPr/>
        </p:nvSpPr>
        <p:spPr>
          <a:xfrm rot="16200000">
            <a:off x="8674101" y="5607244"/>
            <a:ext cx="596900" cy="3301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FC42282-4185-47F0-8A7E-F76CAD27536F}"/>
              </a:ext>
            </a:extLst>
          </p:cNvPr>
          <p:cNvSpPr/>
          <p:nvPr/>
        </p:nvSpPr>
        <p:spPr>
          <a:xfrm>
            <a:off x="8794751" y="4660900"/>
            <a:ext cx="330200" cy="330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D77878F-009F-4C04-BC38-10E563DFC0D4}"/>
              </a:ext>
            </a:extLst>
          </p:cNvPr>
          <p:cNvSpPr/>
          <p:nvPr/>
        </p:nvSpPr>
        <p:spPr>
          <a:xfrm>
            <a:off x="7778751" y="3429000"/>
            <a:ext cx="330200" cy="330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305FD7F-1511-4992-8290-FCCEBB9F6ABE}"/>
              </a:ext>
            </a:extLst>
          </p:cNvPr>
          <p:cNvSpPr/>
          <p:nvPr/>
        </p:nvSpPr>
        <p:spPr>
          <a:xfrm>
            <a:off x="8794751" y="5067396"/>
            <a:ext cx="330200" cy="330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40D0578-F699-4CE6-ACC6-4E8EB498466D}"/>
              </a:ext>
            </a:extLst>
          </p:cNvPr>
          <p:cNvSpPr/>
          <p:nvPr/>
        </p:nvSpPr>
        <p:spPr>
          <a:xfrm>
            <a:off x="5067300" y="3429000"/>
            <a:ext cx="596900" cy="3301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173D288-600A-4163-9BA0-D52E1EBF69B5}"/>
              </a:ext>
            </a:extLst>
          </p:cNvPr>
          <p:cNvSpPr/>
          <p:nvPr/>
        </p:nvSpPr>
        <p:spPr>
          <a:xfrm rot="16200000">
            <a:off x="7645402" y="5607244"/>
            <a:ext cx="596900" cy="3301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9656ADC-7F81-4AA7-9E1D-53B8ECA60621}"/>
              </a:ext>
            </a:extLst>
          </p:cNvPr>
          <p:cNvSpPr/>
          <p:nvPr/>
        </p:nvSpPr>
        <p:spPr>
          <a:xfrm>
            <a:off x="4668967" y="5080098"/>
            <a:ext cx="995233" cy="33019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3238AB-4C48-4272-A8E6-BF3BD87E0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768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A1745-5624-478B-A3C0-9DB835F72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Alcohol VS Density (r = -0.82)</a:t>
            </a:r>
          </a:p>
        </p:txBody>
      </p:sp>
      <p:pic>
        <p:nvPicPr>
          <p:cNvPr id="13" name="Content Placeholder 12" descr="Chart&#10;&#10;Description automatically generated">
            <a:extLst>
              <a:ext uri="{FF2B5EF4-FFF2-40B4-BE49-F238E27FC236}">
                <a16:creationId xmlns:a16="http://schemas.microsoft.com/office/drawing/2014/main" id="{5170C966-AC19-45BD-99F9-E6FCA62F57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1194" y="2040634"/>
            <a:ext cx="6000502" cy="4255458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C45D0A9-5F3B-453A-A076-0D13AAC47B8B}"/>
              </a:ext>
            </a:extLst>
          </p:cNvPr>
          <p:cNvSpPr txBox="1"/>
          <p:nvPr/>
        </p:nvSpPr>
        <p:spPr>
          <a:xfrm>
            <a:off x="6872230" y="3245033"/>
            <a:ext cx="46085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Density of Alcohol (ethanol) = 0.789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mixture density will be decreasing because the ethanol density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81DE2D-A787-43A2-BA91-FCB761FDA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265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C6706-A3E5-4327-A960-ACC57BBF9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 VS Chlorides</a:t>
            </a:r>
          </a:p>
        </p:txBody>
      </p:sp>
      <p:pic>
        <p:nvPicPr>
          <p:cNvPr id="5" name="Content Placeholder 4" descr="Chart, scatter chart&#10;&#10;Description automatically generated">
            <a:extLst>
              <a:ext uri="{FF2B5EF4-FFF2-40B4-BE49-F238E27FC236}">
                <a16:creationId xmlns:a16="http://schemas.microsoft.com/office/drawing/2014/main" id="{57E546F2-3F03-4F9F-93A7-831868A63E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8222" y="2248914"/>
            <a:ext cx="4977778" cy="353015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B4672C-CF38-4704-8404-5FB0C5670048}"/>
              </a:ext>
            </a:extLst>
          </p:cNvPr>
          <p:cNvSpPr txBox="1"/>
          <p:nvPr/>
        </p:nvSpPr>
        <p:spPr>
          <a:xfrm>
            <a:off x="6872230" y="3245033"/>
            <a:ext cx="4608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Density of Alcohol chlorides &gt; 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045200-354B-471B-B4A6-21A779D20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761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0CC7D-C34A-47A1-8FD0-65CA408D2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 VS Bound Sulfur Dioxide</a:t>
            </a:r>
          </a:p>
        </p:txBody>
      </p:sp>
      <p:pic>
        <p:nvPicPr>
          <p:cNvPr id="5" name="Content Placeholder 4" descr="Chart, scatter chart&#10;&#10;Description automatically generated">
            <a:extLst>
              <a:ext uri="{FF2B5EF4-FFF2-40B4-BE49-F238E27FC236}">
                <a16:creationId xmlns:a16="http://schemas.microsoft.com/office/drawing/2014/main" id="{6029FED6-2B79-4E34-975A-23D5512CCD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8222" y="2337814"/>
            <a:ext cx="4977778" cy="353015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56C08C-11D1-498D-9EB9-6012561775C2}"/>
              </a:ext>
            </a:extLst>
          </p:cNvPr>
          <p:cNvSpPr txBox="1"/>
          <p:nvPr/>
        </p:nvSpPr>
        <p:spPr>
          <a:xfrm>
            <a:off x="6872230" y="3245033"/>
            <a:ext cx="4608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Density of Alcohol chlorides = 1.377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7CD6F7-606F-44A3-B28E-8729CBB3D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693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8E9C91B-7EAD-4562-AB0E-DFB9663AE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 descr="Line chart&#10;&#10;Description automatically generated">
            <a:extLst>
              <a:ext uri="{FF2B5EF4-FFF2-40B4-BE49-F238E27FC236}">
                <a16:creationId xmlns:a16="http://schemas.microsoft.com/office/drawing/2014/main" id="{7A89C8FD-FCA8-4036-8322-00EFEB5450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6827" y="909136"/>
            <a:ext cx="7215149" cy="50397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B3326E-101E-4CA0-B00B-39670E619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819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8E9C91B-7EAD-4562-AB0E-DFB9663AE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14DE1B-FD50-40B1-A8A5-304666E7C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B41FE9-4F8F-4675-8668-D3330B371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D11B82B2-FC8F-4C84-9551-747232621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745" y="1617000"/>
            <a:ext cx="5136388" cy="3642642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230929C-760C-4746-B0AE-0D09A78A8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038225"/>
            <a:ext cx="0" cy="476250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FCA53A7B-DFD8-450E-9AC4-3C1D41B0F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6" y="1644457"/>
            <a:ext cx="5136388" cy="35877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D907DF-DC06-440C-B7D0-D470A9CC9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509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4D0E555-16F6-44D0-BF56-AF5FF5BDE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17041D-1A7B-4ECA-AB68-3CFDB6726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6220" y="0"/>
            <a:ext cx="4641314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A06FD4-E131-458A-AD68-99C9ED685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69" y="640080"/>
            <a:ext cx="3659246" cy="286269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>
                <a:solidFill>
                  <a:srgbClr val="FFFFFF"/>
                </a:solidFill>
              </a:rPr>
              <a:t>Outliers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BCD2462-4C1E-401A-AC2D-F799A138B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3852" y="3663649"/>
            <a:ext cx="3383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6" descr="Chart, scatter chart&#10;&#10;Description automatically generated">
            <a:extLst>
              <a:ext uri="{FF2B5EF4-FFF2-40B4-BE49-F238E27FC236}">
                <a16:creationId xmlns:a16="http://schemas.microsoft.com/office/drawing/2014/main" id="{069CD3D7-FC9F-4B66-85B4-3991BCC1CA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70963" y="1086688"/>
            <a:ext cx="6882024" cy="5442128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80D2C2-FBBE-4BE2-9B65-36F80C5A5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440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F2F53-F847-4648-B4B2-D4AA37A59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Remove 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BD0BF-8C73-4485-9383-E6C3F881D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US" sz="2400" dirty="0"/>
              <a:t>Remove outliers based on statistical method 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/>
              <a:t> lower limit : Q1 – (1.5 * IQR)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/>
              <a:t> upper limit : Q3 + (1.5 * IQR)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600" dirty="0"/>
              <a:t>Where, 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600" dirty="0"/>
              <a:t>IQR = Q3 - Q1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600" dirty="0"/>
              <a:t>IQR = Interquartile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600" dirty="0"/>
              <a:t>Q1 = first / lower quartile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600" dirty="0"/>
              <a:t>Q2 = third / upper quartile</a:t>
            </a:r>
          </a:p>
          <a:p>
            <a:pPr marL="566928" lvl="3" indent="0">
              <a:buNone/>
            </a:pPr>
            <a:endParaRPr lang="en-US" dirty="0"/>
          </a:p>
        </p:txBody>
      </p:sp>
      <p:pic>
        <p:nvPicPr>
          <p:cNvPr id="5" name="Picture 4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E27F19DD-6EF7-4599-A148-AFC9769A47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45" t="-1" r="145" b="59808"/>
          <a:stretch/>
        </p:blipFill>
        <p:spPr>
          <a:xfrm>
            <a:off x="3690793" y="4507868"/>
            <a:ext cx="3953592" cy="17320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0303B1-BE6B-4BA5-B8C8-7CF22AE53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385" y="1963208"/>
            <a:ext cx="4124325" cy="42767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E7C9E-C448-4E54-BB05-0C96E7BA1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206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BBF9-3ECC-4196-AA8D-AB6A60240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09360-8A3F-42BC-957B-E99D9648E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Amount of Original data = 4898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Amount of Clean data = 3989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294D50-24CB-4164-A8FA-C7A4B4C4D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113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Chart, icon, bar chart&#10;&#10;Description automatically generated">
            <a:extLst>
              <a:ext uri="{FF2B5EF4-FFF2-40B4-BE49-F238E27FC236}">
                <a16:creationId xmlns:a16="http://schemas.microsoft.com/office/drawing/2014/main" id="{F553DE00-4F8A-468F-9E0D-BF4F83F25E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1620" y="905933"/>
            <a:ext cx="7160764" cy="503972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DC89EC6-8929-4B2D-84F8-75C0BE0943FC}"/>
              </a:ext>
            </a:extLst>
          </p:cNvPr>
          <p:cNvSpPr/>
          <p:nvPr/>
        </p:nvSpPr>
        <p:spPr>
          <a:xfrm>
            <a:off x="7076661" y="1391477"/>
            <a:ext cx="2615722" cy="41863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7E9C4D-2242-40D8-85B1-E7BFCCA63FF7}"/>
              </a:ext>
            </a:extLst>
          </p:cNvPr>
          <p:cNvSpPr/>
          <p:nvPr/>
        </p:nvSpPr>
        <p:spPr>
          <a:xfrm>
            <a:off x="3244457" y="1391477"/>
            <a:ext cx="2721741" cy="41863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458496-DA7B-4443-8591-666366E0608E}"/>
              </a:ext>
            </a:extLst>
          </p:cNvPr>
          <p:cNvSpPr/>
          <p:nvPr/>
        </p:nvSpPr>
        <p:spPr>
          <a:xfrm>
            <a:off x="6148430" y="1391476"/>
            <a:ext cx="745998" cy="41863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820A7B-6903-4770-A57A-87CB87EE26C0}"/>
              </a:ext>
            </a:extLst>
          </p:cNvPr>
          <p:cNvSpPr txBox="1"/>
          <p:nvPr/>
        </p:nvSpPr>
        <p:spPr>
          <a:xfrm>
            <a:off x="4208721" y="5923862"/>
            <a:ext cx="66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B0099E-8563-4271-A01A-B14E37ED15D4}"/>
              </a:ext>
            </a:extLst>
          </p:cNvPr>
          <p:cNvSpPr txBox="1"/>
          <p:nvPr/>
        </p:nvSpPr>
        <p:spPr>
          <a:xfrm>
            <a:off x="6002323" y="5923862"/>
            <a:ext cx="1089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Medium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8FD360-229B-4AE2-9D8D-8EEF5F12EF39}"/>
              </a:ext>
            </a:extLst>
          </p:cNvPr>
          <p:cNvSpPr txBox="1"/>
          <p:nvPr/>
        </p:nvSpPr>
        <p:spPr>
          <a:xfrm>
            <a:off x="7765830" y="5947973"/>
            <a:ext cx="1089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High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B1C3C-F5FF-42A9-B821-81ADF39C9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193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B9975-5928-48CC-B616-28DAFC1A5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Quantity of Classes</a:t>
            </a:r>
          </a:p>
        </p:txBody>
      </p:sp>
      <p:pic>
        <p:nvPicPr>
          <p:cNvPr id="8" name="Picture 7" descr="A picture containing logo&#10;&#10;Description automatically generated">
            <a:extLst>
              <a:ext uri="{FF2B5EF4-FFF2-40B4-BE49-F238E27FC236}">
                <a16:creationId xmlns:a16="http://schemas.microsoft.com/office/drawing/2014/main" id="{15C97088-E924-44ED-9692-9CE0367B1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129" y="2127746"/>
            <a:ext cx="5066666" cy="3530159"/>
          </a:xfrm>
          <a:prstGeom prst="rect">
            <a:avLst/>
          </a:prstGeom>
        </p:spPr>
      </p:pic>
      <p:pic>
        <p:nvPicPr>
          <p:cNvPr id="10" name="Picture 9" descr="Bar chart&#10;&#10;Description automatically generated with medium confidence">
            <a:extLst>
              <a:ext uri="{FF2B5EF4-FFF2-40B4-BE49-F238E27FC236}">
                <a16:creationId xmlns:a16="http://schemas.microsoft.com/office/drawing/2014/main" id="{30A626C7-9D5B-4A9D-B175-13EC02547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37" y="2127746"/>
            <a:ext cx="5066666" cy="353015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455364-7048-4738-8E1D-A8C720B66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74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45793-64C1-43FE-9193-7D6FA4F43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 Training and Test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1DD379-7EE3-4155-8B08-9653939C2281}"/>
              </a:ext>
            </a:extLst>
          </p:cNvPr>
          <p:cNvSpPr txBox="1"/>
          <p:nvPr/>
        </p:nvSpPr>
        <p:spPr>
          <a:xfrm>
            <a:off x="5638800" y="2365512"/>
            <a:ext cx="103693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0D724D-F70E-45E5-A984-0834A0DCDB3A}"/>
              </a:ext>
            </a:extLst>
          </p:cNvPr>
          <p:cNvSpPr txBox="1"/>
          <p:nvPr/>
        </p:nvSpPr>
        <p:spPr>
          <a:xfrm>
            <a:off x="3879573" y="4065392"/>
            <a:ext cx="1245704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Training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768A1C-4B5D-4B80-8D8C-EEE6696F0B3D}"/>
              </a:ext>
            </a:extLst>
          </p:cNvPr>
          <p:cNvSpPr txBox="1"/>
          <p:nvPr/>
        </p:nvSpPr>
        <p:spPr>
          <a:xfrm>
            <a:off x="7066723" y="4055453"/>
            <a:ext cx="1245704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Testing Data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1F714A4B-932D-4F18-96BB-2074B1D385AB}"/>
              </a:ext>
            </a:extLst>
          </p:cNvPr>
          <p:cNvSpPr/>
          <p:nvPr/>
        </p:nvSpPr>
        <p:spPr>
          <a:xfrm rot="18934923">
            <a:off x="6708915" y="3168391"/>
            <a:ext cx="715618" cy="50531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3D5F3107-1F11-4ED2-ADC6-297205A1FA70}"/>
              </a:ext>
            </a:extLst>
          </p:cNvPr>
          <p:cNvSpPr/>
          <p:nvPr/>
        </p:nvSpPr>
        <p:spPr>
          <a:xfrm rot="2381499">
            <a:off x="4844299" y="3176345"/>
            <a:ext cx="715618" cy="50531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62C6C4-D118-4018-A13B-B266C704EE52}"/>
              </a:ext>
            </a:extLst>
          </p:cNvPr>
          <p:cNvSpPr txBox="1"/>
          <p:nvPr/>
        </p:nvSpPr>
        <p:spPr>
          <a:xfrm>
            <a:off x="7689575" y="3236381"/>
            <a:ext cx="765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20 %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82325A-6532-4F16-A137-55499FBC8E68}"/>
              </a:ext>
            </a:extLst>
          </p:cNvPr>
          <p:cNvSpPr txBox="1"/>
          <p:nvPr/>
        </p:nvSpPr>
        <p:spPr>
          <a:xfrm>
            <a:off x="4096180" y="3388781"/>
            <a:ext cx="765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80 %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C6516682-5F93-4515-945A-48EC6B2FB0F8}"/>
              </a:ext>
            </a:extLst>
          </p:cNvPr>
          <p:cNvSpPr/>
          <p:nvPr/>
        </p:nvSpPr>
        <p:spPr>
          <a:xfrm rot="2381499">
            <a:off x="3406439" y="4882000"/>
            <a:ext cx="715618" cy="50531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71D30676-0406-4134-A4B1-473332968E7C}"/>
              </a:ext>
            </a:extLst>
          </p:cNvPr>
          <p:cNvSpPr/>
          <p:nvPr/>
        </p:nvSpPr>
        <p:spPr>
          <a:xfrm rot="18934923">
            <a:off x="4936081" y="4882000"/>
            <a:ext cx="715618" cy="50531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40C275-9722-4971-AC70-C89FA82D590D}"/>
              </a:ext>
            </a:extLst>
          </p:cNvPr>
          <p:cNvSpPr txBox="1"/>
          <p:nvPr/>
        </p:nvSpPr>
        <p:spPr>
          <a:xfrm>
            <a:off x="2386697" y="5548603"/>
            <a:ext cx="1245704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Training Data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F8A17C-E2D1-4624-981D-56C37FB95987}"/>
              </a:ext>
            </a:extLst>
          </p:cNvPr>
          <p:cNvSpPr txBox="1"/>
          <p:nvPr/>
        </p:nvSpPr>
        <p:spPr>
          <a:xfrm>
            <a:off x="5430032" y="5548602"/>
            <a:ext cx="1245704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Validation 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BEF1B4-CBC3-4FE4-8E56-CF0C37AB4E67}"/>
              </a:ext>
            </a:extLst>
          </p:cNvPr>
          <p:cNvSpPr txBox="1"/>
          <p:nvPr/>
        </p:nvSpPr>
        <p:spPr>
          <a:xfrm>
            <a:off x="5915395" y="4942197"/>
            <a:ext cx="765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20 %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2EC99D-D19D-4B78-968C-BF5D619FD1D3}"/>
              </a:ext>
            </a:extLst>
          </p:cNvPr>
          <p:cNvSpPr txBox="1"/>
          <p:nvPr/>
        </p:nvSpPr>
        <p:spPr>
          <a:xfrm>
            <a:off x="2322000" y="5094597"/>
            <a:ext cx="765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80 %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DD070F5E-5B9E-4811-B6F1-11C1E7DAF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1068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AC4CE-AA63-4C4B-9A66-BF04A578B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ML (Ori Data)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F213241-3727-43A9-9808-1BED347C68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1162012"/>
              </p:ext>
            </p:extLst>
          </p:nvPr>
        </p:nvGraphicFramePr>
        <p:xfrm>
          <a:off x="4158532" y="2483593"/>
          <a:ext cx="6997148" cy="318361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533621">
                  <a:extLst>
                    <a:ext uri="{9D8B030D-6E8A-4147-A177-3AD203B41FA5}">
                      <a16:colId xmlns:a16="http://schemas.microsoft.com/office/drawing/2014/main" val="337272111"/>
                    </a:ext>
                  </a:extLst>
                </a:gridCol>
                <a:gridCol w="1533621">
                  <a:extLst>
                    <a:ext uri="{9D8B030D-6E8A-4147-A177-3AD203B41FA5}">
                      <a16:colId xmlns:a16="http://schemas.microsoft.com/office/drawing/2014/main" val="3504027302"/>
                    </a:ext>
                  </a:extLst>
                </a:gridCol>
                <a:gridCol w="2396285">
                  <a:extLst>
                    <a:ext uri="{9D8B030D-6E8A-4147-A177-3AD203B41FA5}">
                      <a16:colId xmlns:a16="http://schemas.microsoft.com/office/drawing/2014/main" val="1837945254"/>
                    </a:ext>
                  </a:extLst>
                </a:gridCol>
                <a:gridCol w="1533621">
                  <a:extLst>
                    <a:ext uri="{9D8B030D-6E8A-4147-A177-3AD203B41FA5}">
                      <a16:colId xmlns:a16="http://schemas.microsoft.com/office/drawing/2014/main" val="1025203460"/>
                    </a:ext>
                  </a:extLst>
                </a:gridCol>
              </a:tblGrid>
              <a:tr h="6367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KNN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Random Forest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XGBoost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65992852"/>
                  </a:ext>
                </a:extLst>
              </a:tr>
              <a:tr h="6367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Precision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50.38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67.48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69.23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66676338"/>
                  </a:ext>
                </a:extLst>
              </a:tr>
              <a:tr h="6367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Recall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50.68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64.35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70.14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01061701"/>
                  </a:ext>
                </a:extLst>
              </a:tr>
              <a:tr h="6367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F1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50.29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65.52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69.61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45059616"/>
                  </a:ext>
                </a:extLst>
              </a:tr>
              <a:tr h="6367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Accuracy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52.42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65.34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70.15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3752804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64AB4BE-4C5F-45AC-9386-3A0D13209362}"/>
              </a:ext>
            </a:extLst>
          </p:cNvPr>
          <p:cNvSpPr txBox="1"/>
          <p:nvPr/>
        </p:nvSpPr>
        <p:spPr>
          <a:xfrm>
            <a:off x="775252" y="2613991"/>
            <a:ext cx="2464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KNN</a:t>
            </a:r>
          </a:p>
          <a:p>
            <a:r>
              <a:rPr lang="en-US" dirty="0" err="1"/>
              <a:t>N_neighbors</a:t>
            </a:r>
            <a:r>
              <a:rPr lang="en-US" dirty="0"/>
              <a:t> =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E976EE-8307-417F-B6A4-C160C0505D06}"/>
              </a:ext>
            </a:extLst>
          </p:cNvPr>
          <p:cNvSpPr txBox="1"/>
          <p:nvPr/>
        </p:nvSpPr>
        <p:spPr>
          <a:xfrm>
            <a:off x="775252" y="3666501"/>
            <a:ext cx="24649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Random Forest</a:t>
            </a:r>
          </a:p>
          <a:p>
            <a:r>
              <a:rPr lang="en-US" dirty="0" err="1"/>
              <a:t>Max_depth</a:t>
            </a:r>
            <a:r>
              <a:rPr lang="en-US" dirty="0"/>
              <a:t> = 14</a:t>
            </a:r>
          </a:p>
          <a:p>
            <a:r>
              <a:rPr lang="en-US" dirty="0" err="1"/>
              <a:t>N_estimators</a:t>
            </a:r>
            <a:r>
              <a:rPr lang="en-US" dirty="0"/>
              <a:t> = 500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23AB83-9E73-454D-9C74-1AFB16EFD4D1}"/>
              </a:ext>
            </a:extLst>
          </p:cNvPr>
          <p:cNvSpPr txBox="1"/>
          <p:nvPr/>
        </p:nvSpPr>
        <p:spPr>
          <a:xfrm>
            <a:off x="775251" y="4996010"/>
            <a:ext cx="24649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XGBoost</a:t>
            </a:r>
            <a:endParaRPr lang="en-US" b="1" dirty="0"/>
          </a:p>
          <a:p>
            <a:r>
              <a:rPr lang="en-US" dirty="0" err="1"/>
              <a:t>Learning_rate</a:t>
            </a:r>
            <a:r>
              <a:rPr lang="en-US" dirty="0"/>
              <a:t> = 0.7</a:t>
            </a:r>
          </a:p>
          <a:p>
            <a:r>
              <a:rPr lang="en-US" dirty="0" err="1"/>
              <a:t>Max_depth</a:t>
            </a:r>
            <a:r>
              <a:rPr lang="en-US" dirty="0"/>
              <a:t> = 26</a:t>
            </a:r>
          </a:p>
          <a:p>
            <a:r>
              <a:rPr lang="en-US" dirty="0" err="1"/>
              <a:t>N_estimators</a:t>
            </a:r>
            <a:r>
              <a:rPr lang="en-US" dirty="0"/>
              <a:t> = 300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5F14EF-9A5D-43ED-A504-7C6BD62EAE2F}"/>
              </a:ext>
            </a:extLst>
          </p:cNvPr>
          <p:cNvSpPr/>
          <p:nvPr/>
        </p:nvSpPr>
        <p:spPr>
          <a:xfrm>
            <a:off x="9750287" y="2613991"/>
            <a:ext cx="1222513" cy="30532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EB315-F566-4674-866E-B91354184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2376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52D49B23-7C59-471F-9846-087FEF5A4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4551775"/>
              </p:ext>
            </p:extLst>
          </p:nvPr>
        </p:nvGraphicFramePr>
        <p:xfrm>
          <a:off x="3448879" y="2417108"/>
          <a:ext cx="7706801" cy="3250095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601413">
                  <a:extLst>
                    <a:ext uri="{9D8B030D-6E8A-4147-A177-3AD203B41FA5}">
                      <a16:colId xmlns:a16="http://schemas.microsoft.com/office/drawing/2014/main" val="2265300233"/>
                    </a:ext>
                  </a:extLst>
                </a:gridCol>
                <a:gridCol w="1601413">
                  <a:extLst>
                    <a:ext uri="{9D8B030D-6E8A-4147-A177-3AD203B41FA5}">
                      <a16:colId xmlns:a16="http://schemas.microsoft.com/office/drawing/2014/main" val="204984424"/>
                    </a:ext>
                  </a:extLst>
                </a:gridCol>
                <a:gridCol w="2902562">
                  <a:extLst>
                    <a:ext uri="{9D8B030D-6E8A-4147-A177-3AD203B41FA5}">
                      <a16:colId xmlns:a16="http://schemas.microsoft.com/office/drawing/2014/main" val="27760942"/>
                    </a:ext>
                  </a:extLst>
                </a:gridCol>
                <a:gridCol w="1601413">
                  <a:extLst>
                    <a:ext uri="{9D8B030D-6E8A-4147-A177-3AD203B41FA5}">
                      <a16:colId xmlns:a16="http://schemas.microsoft.com/office/drawing/2014/main" val="2334799760"/>
                    </a:ext>
                  </a:extLst>
                </a:gridCol>
              </a:tblGrid>
              <a:tr h="6500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KNN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Random Forest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XGBoost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90376359"/>
                  </a:ext>
                </a:extLst>
              </a:tr>
              <a:tr h="6500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Precision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48.02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72.86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69.9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20796581"/>
                  </a:ext>
                </a:extLst>
              </a:tr>
              <a:tr h="6500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Recall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47.03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68.61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68.39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48805080"/>
                  </a:ext>
                </a:extLst>
              </a:tr>
              <a:tr h="6500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F1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47.28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70.29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69.08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82745722"/>
                  </a:ext>
                </a:extLst>
              </a:tr>
              <a:tr h="6500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Accuracy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50.49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71.36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70.11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47462596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DAAC4CE-AA63-4C4B-9A66-BF04A578B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ML (Clean Data)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4AB4BE-4C5F-45AC-9386-3A0D13209362}"/>
              </a:ext>
            </a:extLst>
          </p:cNvPr>
          <p:cNvSpPr txBox="1"/>
          <p:nvPr/>
        </p:nvSpPr>
        <p:spPr>
          <a:xfrm>
            <a:off x="775252" y="2613991"/>
            <a:ext cx="2464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KNN</a:t>
            </a:r>
          </a:p>
          <a:p>
            <a:r>
              <a:rPr lang="en-US" dirty="0" err="1"/>
              <a:t>N_neighbors</a:t>
            </a:r>
            <a:r>
              <a:rPr lang="en-US" dirty="0"/>
              <a:t> =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E976EE-8307-417F-B6A4-C160C0505D06}"/>
              </a:ext>
            </a:extLst>
          </p:cNvPr>
          <p:cNvSpPr txBox="1"/>
          <p:nvPr/>
        </p:nvSpPr>
        <p:spPr>
          <a:xfrm>
            <a:off x="775252" y="3666501"/>
            <a:ext cx="24649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Random Forest</a:t>
            </a:r>
          </a:p>
          <a:p>
            <a:r>
              <a:rPr lang="en-US" dirty="0" err="1"/>
              <a:t>Max_depth</a:t>
            </a:r>
            <a:r>
              <a:rPr lang="en-US" dirty="0"/>
              <a:t> = 16</a:t>
            </a:r>
          </a:p>
          <a:p>
            <a:r>
              <a:rPr lang="en-US" dirty="0" err="1"/>
              <a:t>N_estimators</a:t>
            </a:r>
            <a:r>
              <a:rPr lang="en-US" dirty="0"/>
              <a:t> = 100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23AB83-9E73-454D-9C74-1AFB16EFD4D1}"/>
              </a:ext>
            </a:extLst>
          </p:cNvPr>
          <p:cNvSpPr txBox="1"/>
          <p:nvPr/>
        </p:nvSpPr>
        <p:spPr>
          <a:xfrm>
            <a:off x="775251" y="4996010"/>
            <a:ext cx="24649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XGBoost</a:t>
            </a:r>
            <a:endParaRPr lang="en-US" b="1" dirty="0"/>
          </a:p>
          <a:p>
            <a:r>
              <a:rPr lang="en-US" dirty="0" err="1"/>
              <a:t>Learning_rate</a:t>
            </a:r>
            <a:r>
              <a:rPr lang="en-US" dirty="0"/>
              <a:t> = 0.7</a:t>
            </a:r>
          </a:p>
          <a:p>
            <a:r>
              <a:rPr lang="en-US" dirty="0" err="1"/>
              <a:t>Max_depth</a:t>
            </a:r>
            <a:r>
              <a:rPr lang="en-US" dirty="0"/>
              <a:t> = 12</a:t>
            </a:r>
          </a:p>
          <a:p>
            <a:r>
              <a:rPr lang="en-US" dirty="0" err="1"/>
              <a:t>N_estimators</a:t>
            </a:r>
            <a:r>
              <a:rPr lang="en-US" dirty="0"/>
              <a:t> = 800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5F14EF-9A5D-43ED-A504-7C6BD62EAE2F}"/>
              </a:ext>
            </a:extLst>
          </p:cNvPr>
          <p:cNvSpPr/>
          <p:nvPr/>
        </p:nvSpPr>
        <p:spPr>
          <a:xfrm>
            <a:off x="7295323" y="2601560"/>
            <a:ext cx="1610138" cy="30532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9FF1783-2F91-4C5C-A108-160FF4647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349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A2FC9-5495-4E74-9268-6AA5FD381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 Test Data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374B30-E65C-47F7-B7BF-80A1186F42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9887283"/>
              </p:ext>
            </p:extLst>
          </p:nvPr>
        </p:nvGraphicFramePr>
        <p:xfrm>
          <a:off x="4158532" y="2454966"/>
          <a:ext cx="3935896" cy="340912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967948">
                  <a:extLst>
                    <a:ext uri="{9D8B030D-6E8A-4147-A177-3AD203B41FA5}">
                      <a16:colId xmlns:a16="http://schemas.microsoft.com/office/drawing/2014/main" val="2410953840"/>
                    </a:ext>
                  </a:extLst>
                </a:gridCol>
                <a:gridCol w="1967948">
                  <a:extLst>
                    <a:ext uri="{9D8B030D-6E8A-4147-A177-3AD203B41FA5}">
                      <a16:colId xmlns:a16="http://schemas.microsoft.com/office/drawing/2014/main" val="4048437961"/>
                    </a:ext>
                  </a:extLst>
                </a:gridCol>
              </a:tblGrid>
              <a:tr h="68182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 err="1">
                          <a:effectLst/>
                        </a:rPr>
                        <a:t>XGBoost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44306070"/>
                  </a:ext>
                </a:extLst>
              </a:tr>
              <a:tr h="68182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Precision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69.53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10913017"/>
                  </a:ext>
                </a:extLst>
              </a:tr>
              <a:tr h="68182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Recall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68.81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7845064"/>
                  </a:ext>
                </a:extLst>
              </a:tr>
              <a:tr h="68182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F1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69.14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36428842"/>
                  </a:ext>
                </a:extLst>
              </a:tr>
              <a:tr h="68182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Accuracy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69.29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70273189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4D52C8-8393-440A-A741-486C10A03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5992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79782-5087-4AAE-93E0-269B70039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Importance</a:t>
            </a:r>
          </a:p>
        </p:txBody>
      </p:sp>
      <p:pic>
        <p:nvPicPr>
          <p:cNvPr id="5" name="Content Placeholder 4" descr="Chart, bar chart&#10;&#10;Description automatically generated">
            <a:extLst>
              <a:ext uri="{FF2B5EF4-FFF2-40B4-BE49-F238E27FC236}">
                <a16:creationId xmlns:a16="http://schemas.microsoft.com/office/drawing/2014/main" id="{0BB3E7A3-5C2A-4CEE-A19F-5A53F6B6BB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1156" y="1992693"/>
            <a:ext cx="7989687" cy="4288837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DDD9B-2741-443F-A1FA-D21567862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1201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113EE-8D5D-4BBB-8503-FB8A2F5B4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Alcohol VS Volatile Acidity</a:t>
            </a:r>
          </a:p>
        </p:txBody>
      </p:sp>
      <p:pic>
        <p:nvPicPr>
          <p:cNvPr id="4" name="Content Placeholder 4" descr="Chart, scatter chart&#10;&#10;Description automatically generated">
            <a:extLst>
              <a:ext uri="{FF2B5EF4-FFF2-40B4-BE49-F238E27FC236}">
                <a16:creationId xmlns:a16="http://schemas.microsoft.com/office/drawing/2014/main" id="{64410BED-B15F-4C2E-BFF0-E3DBA8E9D4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9836" y="2038625"/>
            <a:ext cx="5972328" cy="4232965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2AD2CA-4586-4A5C-ADBD-BA88BC1EE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6095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078E7-CFE4-4BBE-BFFC-49B39337A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Dist</a:t>
            </a:r>
            <a:r>
              <a:rPr lang="en-US" dirty="0"/>
              <a:t> of Volatile Acid and Alcohol</a:t>
            </a:r>
          </a:p>
        </p:txBody>
      </p:sp>
      <p:pic>
        <p:nvPicPr>
          <p:cNvPr id="7" name="Picture 6" descr="Chart, histogram&#10;&#10;Description automatically generated">
            <a:extLst>
              <a:ext uri="{FF2B5EF4-FFF2-40B4-BE49-F238E27FC236}">
                <a16:creationId xmlns:a16="http://schemas.microsoft.com/office/drawing/2014/main" id="{5CAE787B-6EC1-4B6A-AEAA-EF4713143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82" y="2437253"/>
            <a:ext cx="4774603" cy="3339682"/>
          </a:xfrm>
          <a:prstGeom prst="rect">
            <a:avLst/>
          </a:prstGeom>
        </p:spPr>
      </p:pic>
      <p:pic>
        <p:nvPicPr>
          <p:cNvPr id="9" name="Picture 8" descr="Chart, histogram&#10;&#10;Description automatically generated">
            <a:extLst>
              <a:ext uri="{FF2B5EF4-FFF2-40B4-BE49-F238E27FC236}">
                <a16:creationId xmlns:a16="http://schemas.microsoft.com/office/drawing/2014/main" id="{0CC2F07E-D83F-44F2-BF24-FC774214C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517" y="2449951"/>
            <a:ext cx="4901587" cy="3326984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CC1E07F-1D97-4B2B-A189-8DF1226F2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3059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BD6C5-878E-49EB-80EC-17A8B40C7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Dist</a:t>
            </a:r>
            <a:r>
              <a:rPr lang="en-US" dirty="0"/>
              <a:t> of Alcohol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76AE02-3B73-428A-A2C7-D06C15FD98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7707293"/>
              </p:ext>
            </p:extLst>
          </p:nvPr>
        </p:nvGraphicFramePr>
        <p:xfrm>
          <a:off x="5277677" y="2633869"/>
          <a:ext cx="6380920" cy="3170584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832146">
                  <a:extLst>
                    <a:ext uri="{9D8B030D-6E8A-4147-A177-3AD203B41FA5}">
                      <a16:colId xmlns:a16="http://schemas.microsoft.com/office/drawing/2014/main" val="2145905631"/>
                    </a:ext>
                  </a:extLst>
                </a:gridCol>
                <a:gridCol w="1516258">
                  <a:extLst>
                    <a:ext uri="{9D8B030D-6E8A-4147-A177-3AD203B41FA5}">
                      <a16:colId xmlns:a16="http://schemas.microsoft.com/office/drawing/2014/main" val="3160927299"/>
                    </a:ext>
                  </a:extLst>
                </a:gridCol>
                <a:gridCol w="1516258">
                  <a:extLst>
                    <a:ext uri="{9D8B030D-6E8A-4147-A177-3AD203B41FA5}">
                      <a16:colId xmlns:a16="http://schemas.microsoft.com/office/drawing/2014/main" val="3786788645"/>
                    </a:ext>
                  </a:extLst>
                </a:gridCol>
                <a:gridCol w="1516258">
                  <a:extLst>
                    <a:ext uri="{9D8B030D-6E8A-4147-A177-3AD203B41FA5}">
                      <a16:colId xmlns:a16="http://schemas.microsoft.com/office/drawing/2014/main" val="3500562132"/>
                    </a:ext>
                  </a:extLst>
                </a:gridCol>
              </a:tblGrid>
              <a:tr h="7926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Quality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Mean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Median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Std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45852269"/>
                  </a:ext>
                </a:extLst>
              </a:tr>
              <a:tr h="7926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Low (0)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9.83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9.5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0.86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66785394"/>
                  </a:ext>
                </a:extLst>
              </a:tr>
              <a:tr h="7926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Medium (1)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10.59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10.5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1.16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43663791"/>
                  </a:ext>
                </a:extLst>
              </a:tr>
              <a:tr h="7926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High (2)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11.41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11.5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1.24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3538019"/>
                  </a:ext>
                </a:extLst>
              </a:tr>
            </a:tbl>
          </a:graphicData>
        </a:graphic>
      </p:graphicFrame>
      <p:pic>
        <p:nvPicPr>
          <p:cNvPr id="5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304A838C-FB08-435A-91D2-B1D3D24C9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74" y="2633869"/>
            <a:ext cx="4901587" cy="332698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94A92-ECFB-4B3D-ADDB-22F728D5E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6927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E362070-691D-44DB-98D4-BC61774B0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EB3158-3571-42DA-8238-4AE6213E7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504" y="758951"/>
            <a:ext cx="7319175" cy="33749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>
                <a:solidFill>
                  <a:schemeClr val="tx1">
                    <a:lumMod val="85000"/>
                    <a:lumOff val="15000"/>
                  </a:schemeClr>
                </a:solidFill>
              </a:rPr>
              <a:t>Thank you</a:t>
            </a:r>
          </a:p>
        </p:txBody>
      </p:sp>
      <p:pic>
        <p:nvPicPr>
          <p:cNvPr id="6" name="Graphic 5" descr="Right Double Quote">
            <a:extLst>
              <a:ext uri="{FF2B5EF4-FFF2-40B4-BE49-F238E27FC236}">
                <a16:creationId xmlns:a16="http://schemas.microsoft.com/office/drawing/2014/main" id="{DD9775E5-A2CA-4442-BC67-2D75FCF768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0973" y="1790485"/>
            <a:ext cx="2758331" cy="2758331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A7EFE9C-DAE7-4ECA-BDB2-34E2534B8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8251" y="4294753"/>
            <a:ext cx="71323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32DB1480-5B24-4B37-B70E-C74945DD9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B1FDF-E3C1-4500-A314-CE9CA8EC2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815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06565-69D4-4C59-9788-1A91DA647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F4AAB-98A6-4D5B-9C20-C3DABE7AE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A24E5-3CD3-44ED-A330-7C73A533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6650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77269-4F4F-40A0-82F8-3C6573196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605B0-481C-41A6-9DEC-0568729A6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89099-C70F-4051-BB98-E01D1831A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833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168E5-7F75-47ED-B772-034CBD148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7A1B7-DD9E-4091-B2F7-C0519E4F0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2D1E4-298C-4164-A597-400305799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1597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F0B00-1AA0-46A1-B018-BF4162C53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3w 1H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82338-58DD-42D2-B6CA-3E28C6089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Why : </a:t>
            </a:r>
            <a:r>
              <a:rPr lang="en-US" dirty="0" err="1"/>
              <a:t>Supaya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racikan</a:t>
            </a:r>
            <a:r>
              <a:rPr lang="en-US" dirty="0"/>
              <a:t> wine yang </a:t>
            </a:r>
            <a:r>
              <a:rPr lang="en-US" dirty="0" err="1"/>
              <a:t>bersaing</a:t>
            </a:r>
            <a:r>
              <a:rPr lang="en-US" dirty="0"/>
              <a:t>.</a:t>
            </a:r>
          </a:p>
          <a:p>
            <a:r>
              <a:rPr lang="en-US" dirty="0"/>
              <a:t>- What : </a:t>
            </a:r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dirty="0" err="1"/>
              <a:t>korelasi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quality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variasi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pada wine </a:t>
            </a:r>
          </a:p>
          <a:p>
            <a:r>
              <a:rPr lang="en-US" dirty="0"/>
              <a:t>- Who : Wine makers (Manufacture)</a:t>
            </a:r>
          </a:p>
          <a:p>
            <a:r>
              <a:rPr lang="en-US" dirty="0"/>
              <a:t>- How : </a:t>
            </a:r>
            <a:r>
              <a:rPr lang="en-US" dirty="0" err="1"/>
              <a:t>dengan</a:t>
            </a:r>
            <a:r>
              <a:rPr lang="en-US" dirty="0"/>
              <a:t> model machine learning supervised (</a:t>
            </a:r>
            <a:r>
              <a:rPr lang="en-US" dirty="0" err="1"/>
              <a:t>Klasifikasi</a:t>
            </a:r>
            <a:r>
              <a:rPr lang="en-US" dirty="0"/>
              <a:t>)</a:t>
            </a:r>
          </a:p>
          <a:p>
            <a:r>
              <a:rPr lang="en-US" dirty="0"/>
              <a:t>Kita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mengklasifikasi</a:t>
            </a:r>
            <a:r>
              <a:rPr lang="en-US" dirty="0"/>
              <a:t> wine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komposisi</a:t>
            </a:r>
            <a:r>
              <a:rPr lang="en-US" dirty="0"/>
              <a:t> yang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quality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rentang</a:t>
            </a:r>
            <a:r>
              <a:rPr lang="en-US" dirty="0"/>
              <a:t> 1 – 10. (</a:t>
            </a:r>
            <a:r>
              <a:rPr lang="en-US" dirty="0" err="1"/>
              <a:t>klasifikasi</a:t>
            </a:r>
            <a:r>
              <a:rPr lang="en-US" dirty="0"/>
              <a:t>)</a:t>
            </a:r>
          </a:p>
          <a:p>
            <a:r>
              <a:rPr lang="en-US" dirty="0"/>
              <a:t>Goal : </a:t>
            </a:r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dirty="0" err="1"/>
              <a:t>korelasi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quality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variasi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pada wine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5CCE4-DF7D-47F3-96AE-7FE1F92EC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3142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9DCCE-7A3E-4FC0-9225-FA07C604A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337F8C2-3D27-4E85-B81D-2A653307D712}"/>
              </a:ext>
            </a:extLst>
          </p:cNvPr>
          <p:cNvCxnSpPr/>
          <p:nvPr/>
        </p:nvCxnSpPr>
        <p:spPr>
          <a:xfrm flipV="1">
            <a:off x="2928731" y="2716696"/>
            <a:ext cx="2014330" cy="241189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E86508-1CCB-4204-9B35-7C61BF2C55A2}"/>
              </a:ext>
            </a:extLst>
          </p:cNvPr>
          <p:cNvCxnSpPr>
            <a:cxnSpLocks/>
          </p:cNvCxnSpPr>
          <p:nvPr/>
        </p:nvCxnSpPr>
        <p:spPr>
          <a:xfrm>
            <a:off x="4943061" y="2716696"/>
            <a:ext cx="2186609" cy="240394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DA3301-856F-46E9-8891-15614D4AF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0171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1FD7A-DA3B-434D-805E-4FABBAA2D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(</a:t>
            </a:r>
            <a:r>
              <a:rPr lang="en-US" dirty="0" err="1"/>
              <a:t>pengaruh</a:t>
            </a:r>
            <a:r>
              <a:rPr lang="en-US" dirty="0"/>
              <a:t> masing2)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6539C-A45A-43DA-B5F8-680F85A27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407" y="2289093"/>
            <a:ext cx="10865193" cy="376089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effectLst/>
              </a:rPr>
              <a:t> Fixed Acidity : Amount of Tartaric Acid in wine, measured in (g(tartaric acid)/dm</a:t>
            </a:r>
            <a:r>
              <a:rPr lang="en-US" sz="2400" baseline="30000" dirty="0">
                <a:solidFill>
                  <a:schemeClr val="tx1"/>
                </a:solidFill>
                <a:effectLst/>
              </a:rPr>
              <a:t>3</a:t>
            </a:r>
            <a:r>
              <a:rPr lang="en-US" sz="2400" dirty="0">
                <a:solidFill>
                  <a:schemeClr val="tx1"/>
                </a:solidFill>
                <a:effectLst/>
              </a:rPr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tx1"/>
                </a:solidFill>
                <a:effectLst/>
              </a:rPr>
              <a:t>The main organic acid in wine (the characteristic of grapes)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effectLst/>
              </a:rPr>
              <a:t> Volatile Acidity : Amount of Acetic Acid in wine, measured in (g(acetic acid)/dm</a:t>
            </a:r>
            <a:r>
              <a:rPr lang="en-US" sz="2400" baseline="30000" dirty="0">
                <a:solidFill>
                  <a:schemeClr val="tx1"/>
                </a:solidFill>
                <a:effectLst/>
              </a:rPr>
              <a:t>3</a:t>
            </a:r>
            <a:r>
              <a:rPr lang="en-US" sz="2400" dirty="0">
                <a:solidFill>
                  <a:schemeClr val="tx1"/>
                </a:solidFill>
                <a:effectLst/>
              </a:rPr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tx1"/>
                </a:solidFill>
              </a:rPr>
              <a:t>Affected the aroma of the grape (placed in skin of grape), the molecule become the aroma of wine during fermentation</a:t>
            </a:r>
            <a:endParaRPr lang="en-US" sz="2200" dirty="0">
              <a:solidFill>
                <a:schemeClr val="tx1"/>
              </a:solidFill>
              <a:effectLst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effectLst/>
              </a:rPr>
              <a:t> Citric Acid : Amount of citric acid in wine in (g/dm</a:t>
            </a:r>
            <a:r>
              <a:rPr lang="en-US" sz="2400" baseline="30000" dirty="0">
                <a:solidFill>
                  <a:schemeClr val="tx1"/>
                </a:solidFill>
                <a:effectLst/>
              </a:rPr>
              <a:t>3</a:t>
            </a:r>
            <a:r>
              <a:rPr lang="en-US" sz="2400" dirty="0">
                <a:solidFill>
                  <a:schemeClr val="tx1"/>
                </a:solidFill>
                <a:effectLst/>
              </a:rPr>
              <a:t>).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tx1"/>
                </a:solidFill>
                <a:effectLst/>
              </a:rPr>
              <a:t>Contributes to crispness of wine.</a:t>
            </a:r>
            <a:endParaRPr lang="en-US" sz="2400" dirty="0">
              <a:solidFill>
                <a:schemeClr val="tx1"/>
              </a:solidFill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89B9B-E28C-456D-8EE8-82D84EBD8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6374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CF853-8894-43DE-8348-ED63F3785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5105-899E-4B4F-BEDD-F2EE6BA4B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effectLst/>
              </a:rPr>
              <a:t> Residual Sugar : </a:t>
            </a:r>
            <a:r>
              <a:rPr lang="en-US" sz="2400" dirty="0" err="1">
                <a:solidFill>
                  <a:schemeClr val="tx1"/>
                </a:solidFill>
                <a:effectLst/>
              </a:rPr>
              <a:t>amonunt</a:t>
            </a:r>
            <a:r>
              <a:rPr lang="en-US" sz="2400" dirty="0">
                <a:solidFill>
                  <a:schemeClr val="tx1"/>
                </a:solidFill>
                <a:effectLst/>
              </a:rPr>
              <a:t> of sugar left in wine after fermentation. Measured in in (g/dm</a:t>
            </a:r>
            <a:r>
              <a:rPr lang="en-US" sz="2400" baseline="30000" dirty="0">
                <a:solidFill>
                  <a:schemeClr val="tx1"/>
                </a:solidFill>
                <a:effectLst/>
              </a:rPr>
              <a:t>3</a:t>
            </a:r>
            <a:r>
              <a:rPr lang="en-US" sz="2400" dirty="0">
                <a:solidFill>
                  <a:schemeClr val="tx1"/>
                </a:solidFill>
                <a:effectLst/>
              </a:rPr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tx1"/>
                </a:solidFill>
              </a:rPr>
              <a:t>Fermentation is stopped before its end to keep some sugar (</a:t>
            </a:r>
            <a:r>
              <a:rPr lang="en-US" sz="2200" dirty="0" err="1">
                <a:solidFill>
                  <a:schemeClr val="tx1"/>
                </a:solidFill>
              </a:rPr>
              <a:t>Mutage</a:t>
            </a:r>
            <a:r>
              <a:rPr lang="en-US" sz="2200" dirty="0">
                <a:solidFill>
                  <a:schemeClr val="tx1"/>
                </a:solidFill>
              </a:rPr>
              <a:t> / Fortification)</a:t>
            </a:r>
            <a:endParaRPr lang="en-US" sz="2200" dirty="0">
              <a:solidFill>
                <a:schemeClr val="tx1"/>
              </a:solidFill>
              <a:effectLst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effectLst/>
              </a:rPr>
              <a:t> Chlorides : amount of Sodium </a:t>
            </a:r>
            <a:r>
              <a:rPr lang="en-US" sz="2400" dirty="0" err="1">
                <a:solidFill>
                  <a:schemeClr val="tx1"/>
                </a:solidFill>
                <a:effectLst/>
              </a:rPr>
              <a:t>Choloride</a:t>
            </a:r>
            <a:r>
              <a:rPr lang="en-US" sz="2400" dirty="0">
                <a:solidFill>
                  <a:schemeClr val="tx1"/>
                </a:solidFill>
                <a:effectLst/>
              </a:rPr>
              <a:t> (salt) in wine. Measured in (g/dm</a:t>
            </a:r>
            <a:r>
              <a:rPr lang="en-US" sz="2400" baseline="30000" dirty="0">
                <a:solidFill>
                  <a:schemeClr val="tx1"/>
                </a:solidFill>
                <a:effectLst/>
              </a:rPr>
              <a:t>3</a:t>
            </a:r>
            <a:r>
              <a:rPr lang="en-US" sz="2400" dirty="0">
                <a:solidFill>
                  <a:schemeClr val="tx1"/>
                </a:solidFill>
                <a:effectLst/>
              </a:rPr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tx1"/>
                </a:solidFill>
                <a:effectLst/>
              </a:rPr>
              <a:t>Chlorides being a major contributor to saltiness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effectLst/>
              </a:rPr>
              <a:t> Free Sulfur Dioxide : Amount of SO2 in </a:t>
            </a:r>
            <a:r>
              <a:rPr lang="en-US" sz="2400" b="1" dirty="0">
                <a:solidFill>
                  <a:schemeClr val="tx1"/>
                </a:solidFill>
                <a:effectLst/>
              </a:rPr>
              <a:t>free form</a:t>
            </a:r>
            <a:r>
              <a:rPr lang="en-US" sz="2400" dirty="0">
                <a:solidFill>
                  <a:schemeClr val="tx1"/>
                </a:solidFill>
                <a:effectLst/>
              </a:rPr>
              <a:t>. Measured in (mg/dm</a:t>
            </a:r>
            <a:r>
              <a:rPr lang="en-US" sz="2400" baseline="30000" dirty="0">
                <a:solidFill>
                  <a:schemeClr val="tx1"/>
                </a:solidFill>
                <a:effectLst/>
              </a:rPr>
              <a:t>3</a:t>
            </a:r>
            <a:r>
              <a:rPr lang="en-US" sz="2400" dirty="0">
                <a:solidFill>
                  <a:schemeClr val="tx1"/>
                </a:solidFill>
                <a:effectLst/>
              </a:rPr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b="0" i="0" dirty="0">
                <a:solidFill>
                  <a:schemeClr val="tx1"/>
                </a:solidFill>
                <a:effectLst/>
              </a:rPr>
              <a:t>The FSO2 and the pH of wine determine how much SO2 is available in the active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tx1"/>
                </a:solidFill>
                <a:effectLst/>
              </a:rPr>
              <a:t>Contributing a sharp/bitter/metallic/chemical </a:t>
            </a:r>
            <a:r>
              <a:rPr lang="en-US" sz="2200" dirty="0" err="1">
                <a:solidFill>
                  <a:schemeClr val="tx1"/>
                </a:solidFill>
                <a:effectLst/>
              </a:rPr>
              <a:t>flavour</a:t>
            </a:r>
            <a:endParaRPr lang="en-US" sz="2200" dirty="0">
              <a:solidFill>
                <a:schemeClr val="tx1"/>
              </a:solidFill>
              <a:effectLst/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00755-2A68-4A9C-8C8B-EEDB29D14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8716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670B5-5FE3-4471-B9BD-7995DC6FE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1F668-0F41-454C-8E5F-64783554F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131" y="2134838"/>
            <a:ext cx="11018189" cy="376089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tx1"/>
                </a:solidFill>
                <a:effectLst/>
              </a:rPr>
              <a:t> Total Sulfur Dioxide : Total Amount of SO2. (mg/dm</a:t>
            </a:r>
            <a:r>
              <a:rPr lang="en-US" sz="2400" b="0" baseline="30000" dirty="0">
                <a:solidFill>
                  <a:schemeClr val="tx1"/>
                </a:solidFill>
                <a:effectLst/>
              </a:rPr>
              <a:t>3</a:t>
            </a:r>
            <a:r>
              <a:rPr lang="en-US" sz="2400" b="0" dirty="0">
                <a:solidFill>
                  <a:schemeClr val="tx1"/>
                </a:solidFill>
                <a:effectLst/>
              </a:rPr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b="0" dirty="0">
                <a:solidFill>
                  <a:schemeClr val="tx1"/>
                </a:solidFill>
                <a:effectLst/>
              </a:rPr>
              <a:t>Too much SO2 can lead to a pungent smell. SO2 acts as antioxidant and antimicrobial agent. (</a:t>
            </a:r>
            <a:r>
              <a:rPr lang="en-US" sz="2200" b="1" dirty="0">
                <a:solidFill>
                  <a:schemeClr val="tx1"/>
                </a:solidFill>
                <a:effectLst/>
              </a:rPr>
              <a:t>bound and free form</a:t>
            </a:r>
            <a:r>
              <a:rPr lang="en-US" sz="2200" b="0" dirty="0">
                <a:solidFill>
                  <a:schemeClr val="tx1"/>
                </a:solidFill>
                <a:effectLst/>
              </a:rPr>
              <a:t>). </a:t>
            </a:r>
            <a:r>
              <a:rPr lang="en-US" sz="2200" dirty="0">
                <a:solidFill>
                  <a:schemeClr val="tx1"/>
                </a:solidFill>
              </a:rPr>
              <a:t>Bound to aldehydes, pigments, sugar</a:t>
            </a:r>
            <a:endParaRPr lang="en-US" sz="2200" b="0" dirty="0">
              <a:solidFill>
                <a:schemeClr val="tx1"/>
              </a:solidFill>
              <a:effectLst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tx1"/>
                </a:solidFill>
              </a:rPr>
              <a:t>Sulfur Dioxide can shift to free state</a:t>
            </a:r>
            <a:endParaRPr lang="en-US" sz="2200" b="0" dirty="0">
              <a:solidFill>
                <a:schemeClr val="tx1"/>
              </a:solidFill>
              <a:effectLst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tx1"/>
                </a:solidFill>
                <a:effectLst/>
              </a:rPr>
              <a:t> Density : Density of Wine in (g/</a:t>
            </a:r>
            <a:r>
              <a:rPr lang="en-US" sz="2400" dirty="0">
                <a:solidFill>
                  <a:schemeClr val="tx1"/>
                </a:solidFill>
              </a:rPr>
              <a:t>c</a:t>
            </a:r>
            <a:r>
              <a:rPr lang="en-US" sz="2400" b="0" dirty="0">
                <a:solidFill>
                  <a:schemeClr val="tx1"/>
                </a:solidFill>
                <a:effectLst/>
              </a:rPr>
              <a:t>m</a:t>
            </a:r>
            <a:r>
              <a:rPr lang="en-US" sz="2400" b="0" baseline="30000" dirty="0">
                <a:solidFill>
                  <a:schemeClr val="tx1"/>
                </a:solidFill>
                <a:effectLst/>
              </a:rPr>
              <a:t>3</a:t>
            </a:r>
            <a:r>
              <a:rPr lang="en-US" sz="2400" b="0" dirty="0">
                <a:solidFill>
                  <a:schemeClr val="tx1"/>
                </a:solidFill>
                <a:effectLst/>
              </a:rPr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b="0" dirty="0">
                <a:solidFill>
                  <a:schemeClr val="tx1"/>
                </a:solidFill>
                <a:effectLst/>
              </a:rPr>
              <a:t>The density of wine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tx1"/>
                </a:solidFill>
                <a:effectLst/>
              </a:rPr>
              <a:t> pH : pH of Wine on a scale of 0-14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b="0" dirty="0">
                <a:solidFill>
                  <a:schemeClr val="tx1"/>
                </a:solidFill>
                <a:effectLst/>
              </a:rPr>
              <a:t>0 means highly Acidic, while 14 means highly basic.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92117-4314-433C-9C36-6F65AC062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0566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4DC7F-077F-4D2B-B59D-BE1620984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F2693-CE62-47ED-ADB1-179B0198A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" y="2281937"/>
            <a:ext cx="11009376" cy="376089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tx1"/>
                </a:solidFill>
                <a:effectLst/>
              </a:rPr>
              <a:t>Sulphates : Amount of Potassium Sulphate in wine, measured in (g/dm</a:t>
            </a:r>
            <a:r>
              <a:rPr lang="en-US" sz="2400" b="0" baseline="30000" dirty="0">
                <a:solidFill>
                  <a:schemeClr val="tx1"/>
                </a:solidFill>
                <a:effectLst/>
              </a:rPr>
              <a:t>3</a:t>
            </a:r>
            <a:r>
              <a:rPr lang="en-US" sz="2400" b="0" dirty="0">
                <a:solidFill>
                  <a:schemeClr val="tx1"/>
                </a:solidFill>
                <a:effectLst/>
              </a:rPr>
              <a:t>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b="0" dirty="0">
                <a:solidFill>
                  <a:schemeClr val="tx1"/>
                </a:solidFill>
                <a:effectLst/>
              </a:rPr>
              <a:t>Contributes to the formation of SO2. Acting as an antioxidant. Removing all the oxygen suspended in the wine which slows down aging.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tx1"/>
                </a:solidFill>
                <a:effectLst/>
              </a:rPr>
              <a:t> Alcohol : alcohol content in wine (% volume)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b="0" i="0" dirty="0">
                <a:solidFill>
                  <a:schemeClr val="tx1"/>
                </a:solidFill>
                <a:effectLst/>
              </a:rPr>
              <a:t>If alcohol is too high in a wine, it can taste “hot” or “burning”. Very difficult to pair with many foods.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b="0" i="0" dirty="0">
                <a:solidFill>
                  <a:schemeClr val="tx1"/>
                </a:solidFill>
                <a:effectLst/>
              </a:rPr>
              <a:t>If a wine is too low in alcohol, the wine will taste “thin” or “watery”.</a:t>
            </a:r>
            <a:endParaRPr lang="en-US" sz="2200" b="0" dirty="0">
              <a:solidFill>
                <a:schemeClr val="tx1"/>
              </a:solidFill>
              <a:effectLst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0" dirty="0">
                <a:solidFill>
                  <a:schemeClr val="tx1"/>
                </a:solidFill>
                <a:effectLst/>
              </a:rPr>
              <a:t> Quality : Wine Quality graded on a scale of 1 - 10 (Higher is better)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7F936-6BA6-4A66-8C0A-F865A31E0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2503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A2AAA-5570-4C94-BDA5-7490E6119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Data (Transpose, replace %)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71D0033-1966-40A9-9D5D-9801C18B769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38745" y="2098515"/>
          <a:ext cx="8774837" cy="378608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13681">
                  <a:extLst>
                    <a:ext uri="{9D8B030D-6E8A-4147-A177-3AD203B41FA5}">
                      <a16:colId xmlns:a16="http://schemas.microsoft.com/office/drawing/2014/main" val="833057815"/>
                    </a:ext>
                  </a:extLst>
                </a:gridCol>
                <a:gridCol w="1855201">
                  <a:extLst>
                    <a:ext uri="{9D8B030D-6E8A-4147-A177-3AD203B41FA5}">
                      <a16:colId xmlns:a16="http://schemas.microsoft.com/office/drawing/2014/main" val="2756715184"/>
                    </a:ext>
                  </a:extLst>
                </a:gridCol>
                <a:gridCol w="2154410">
                  <a:extLst>
                    <a:ext uri="{9D8B030D-6E8A-4147-A177-3AD203B41FA5}">
                      <a16:colId xmlns:a16="http://schemas.microsoft.com/office/drawing/2014/main" val="22948339"/>
                    </a:ext>
                  </a:extLst>
                </a:gridCol>
                <a:gridCol w="1600875">
                  <a:extLst>
                    <a:ext uri="{9D8B030D-6E8A-4147-A177-3AD203B41FA5}">
                      <a16:colId xmlns:a16="http://schemas.microsoft.com/office/drawing/2014/main" val="2763090540"/>
                    </a:ext>
                  </a:extLst>
                </a:gridCol>
                <a:gridCol w="2150670">
                  <a:extLst>
                    <a:ext uri="{9D8B030D-6E8A-4147-A177-3AD203B41FA5}">
                      <a16:colId xmlns:a16="http://schemas.microsoft.com/office/drawing/2014/main" val="3087192484"/>
                    </a:ext>
                  </a:extLst>
                </a:gridCol>
              </a:tblGrid>
              <a:tr h="492396">
                <a:tc>
                  <a:txBody>
                    <a:bodyPr/>
                    <a:lstStyle/>
                    <a:p>
                      <a:pPr algn="l" fontAlgn="b"/>
                      <a:r>
                        <a:rPr lang="en-US" sz="2700" u="none" strike="noStrike">
                          <a:effectLst/>
                        </a:rPr>
                        <a:t> 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03" marR="10903" marT="10903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fixed_acidity</a:t>
                      </a:r>
                      <a:endParaRPr lang="en-US" sz="1700" b="1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109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volatile_acidity</a:t>
                      </a:r>
                      <a:endParaRPr lang="en-US" sz="1700" b="1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109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citric_acid</a:t>
                      </a:r>
                      <a:endParaRPr lang="en-US" sz="1700" b="1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109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 dirty="0" err="1">
                          <a:effectLst/>
                        </a:rPr>
                        <a:t>residual_sugar</a:t>
                      </a:r>
                      <a:endParaRPr lang="en-US" sz="170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10903" marB="0" anchor="ctr"/>
                </a:tc>
                <a:extLst>
                  <a:ext uri="{0D108BD9-81ED-4DB2-BD59-A6C34878D82A}">
                    <a16:rowId xmlns:a16="http://schemas.microsoft.com/office/drawing/2014/main" val="1329397129"/>
                  </a:ext>
                </a:extLst>
              </a:tr>
              <a:tr h="41171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count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109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4898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4898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4898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4898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extLst>
                  <a:ext uri="{0D108BD9-81ED-4DB2-BD59-A6C34878D82A}">
                    <a16:rowId xmlns:a16="http://schemas.microsoft.com/office/drawing/2014/main" val="1330165757"/>
                  </a:ext>
                </a:extLst>
              </a:tr>
              <a:tr h="41171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mean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109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6.854788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0.278241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0.334192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6.391415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extLst>
                  <a:ext uri="{0D108BD9-81ED-4DB2-BD59-A6C34878D82A}">
                    <a16:rowId xmlns:a16="http://schemas.microsoft.com/office/drawing/2014/main" val="687392038"/>
                  </a:ext>
                </a:extLst>
              </a:tr>
              <a:tr h="41171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std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109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0.843868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0.100795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0.12102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5.072058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extLst>
                  <a:ext uri="{0D108BD9-81ED-4DB2-BD59-A6C34878D82A}">
                    <a16:rowId xmlns:a16="http://schemas.microsoft.com/office/drawing/2014/main" val="3423019098"/>
                  </a:ext>
                </a:extLst>
              </a:tr>
              <a:tr h="41171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min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109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3.8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0.08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0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0.6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extLst>
                  <a:ext uri="{0D108BD9-81ED-4DB2-BD59-A6C34878D82A}">
                    <a16:rowId xmlns:a16="http://schemas.microsoft.com/office/drawing/2014/main" val="1130215379"/>
                  </a:ext>
                </a:extLst>
              </a:tr>
              <a:tr h="41171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25%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109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6.3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0.21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0.27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1.7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extLst>
                  <a:ext uri="{0D108BD9-81ED-4DB2-BD59-A6C34878D82A}">
                    <a16:rowId xmlns:a16="http://schemas.microsoft.com/office/drawing/2014/main" val="3301187769"/>
                  </a:ext>
                </a:extLst>
              </a:tr>
              <a:tr h="41171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50%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109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6.8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0.26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0.32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5.2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extLst>
                  <a:ext uri="{0D108BD9-81ED-4DB2-BD59-A6C34878D82A}">
                    <a16:rowId xmlns:a16="http://schemas.microsoft.com/office/drawing/2014/main" val="1415534734"/>
                  </a:ext>
                </a:extLst>
              </a:tr>
              <a:tr h="41171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75%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109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7.3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0.32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0.39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9.9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extLst>
                  <a:ext uri="{0D108BD9-81ED-4DB2-BD59-A6C34878D82A}">
                    <a16:rowId xmlns:a16="http://schemas.microsoft.com/office/drawing/2014/main" val="3041640699"/>
                  </a:ext>
                </a:extLst>
              </a:tr>
              <a:tr h="41171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max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109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14.2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1.1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1.66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 dirty="0">
                          <a:effectLst/>
                        </a:rPr>
                        <a:t>65.8</a:t>
                      </a:r>
                      <a:endParaRPr lang="en-US" sz="17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extLst>
                  <a:ext uri="{0D108BD9-81ED-4DB2-BD59-A6C34878D82A}">
                    <a16:rowId xmlns:a16="http://schemas.microsoft.com/office/drawing/2014/main" val="346853724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BC0A70-B2CB-43F3-A791-1E31B93C4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8560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58CC9-7657-42E1-ABEC-8B60A19C3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Data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9E645B0-0BC2-4DA3-83E5-57188F19078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16734" y="2098515"/>
          <a:ext cx="8818859" cy="378608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87601">
                  <a:extLst>
                    <a:ext uri="{9D8B030D-6E8A-4147-A177-3AD203B41FA5}">
                      <a16:colId xmlns:a16="http://schemas.microsoft.com/office/drawing/2014/main" val="2026256393"/>
                    </a:ext>
                  </a:extLst>
                </a:gridCol>
                <a:gridCol w="1586656">
                  <a:extLst>
                    <a:ext uri="{9D8B030D-6E8A-4147-A177-3AD203B41FA5}">
                      <a16:colId xmlns:a16="http://schemas.microsoft.com/office/drawing/2014/main" val="3681489883"/>
                    </a:ext>
                  </a:extLst>
                </a:gridCol>
                <a:gridCol w="3039106">
                  <a:extLst>
                    <a:ext uri="{9D8B030D-6E8A-4147-A177-3AD203B41FA5}">
                      <a16:colId xmlns:a16="http://schemas.microsoft.com/office/drawing/2014/main" val="69514563"/>
                    </a:ext>
                  </a:extLst>
                </a:gridCol>
                <a:gridCol w="3105496">
                  <a:extLst>
                    <a:ext uri="{9D8B030D-6E8A-4147-A177-3AD203B41FA5}">
                      <a16:colId xmlns:a16="http://schemas.microsoft.com/office/drawing/2014/main" val="3460256822"/>
                    </a:ext>
                  </a:extLst>
                </a:gridCol>
              </a:tblGrid>
              <a:tr h="461832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700" b="0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15140" marB="0" anchor="b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u="none" strike="noStrike">
                          <a:solidFill>
                            <a:srgbClr val="333333"/>
                          </a:solidFill>
                          <a:effectLst/>
                        </a:rPr>
                        <a:t>chlorides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15140" marB="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u="none" strike="noStrike">
                          <a:solidFill>
                            <a:srgbClr val="333333"/>
                          </a:solidFill>
                          <a:effectLst/>
                        </a:rPr>
                        <a:t>free_sulfur_dioxide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15140" marB="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u="none" strike="noStrike">
                          <a:solidFill>
                            <a:srgbClr val="333333"/>
                          </a:solidFill>
                          <a:effectLst/>
                        </a:rPr>
                        <a:t>total_sulfur_dioxide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15140" marB="0" anchor="ctr"/>
                </a:tc>
                <a:extLst>
                  <a:ext uri="{0D108BD9-81ED-4DB2-BD59-A6C34878D82A}">
                    <a16:rowId xmlns:a16="http://schemas.microsoft.com/office/drawing/2014/main" val="4202068488"/>
                  </a:ext>
                </a:extLst>
              </a:tr>
              <a:tr h="415532"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u="none" strike="noStrike">
                          <a:solidFill>
                            <a:srgbClr val="333333"/>
                          </a:solidFill>
                          <a:effectLst/>
                        </a:rPr>
                        <a:t>count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15140" marB="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u="none" strike="noStrike">
                          <a:solidFill>
                            <a:srgbClr val="333333"/>
                          </a:solidFill>
                          <a:effectLst/>
                        </a:rPr>
                        <a:t>4898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60560" marB="6056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u="none" strike="noStrike">
                          <a:solidFill>
                            <a:srgbClr val="333333"/>
                          </a:solidFill>
                          <a:effectLst/>
                        </a:rPr>
                        <a:t>4898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60560" marB="6056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u="none" strike="noStrike">
                          <a:solidFill>
                            <a:srgbClr val="333333"/>
                          </a:solidFill>
                          <a:effectLst/>
                        </a:rPr>
                        <a:t>4898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60560" marB="60560" anchor="ctr"/>
                </a:tc>
                <a:extLst>
                  <a:ext uri="{0D108BD9-81ED-4DB2-BD59-A6C34878D82A}">
                    <a16:rowId xmlns:a16="http://schemas.microsoft.com/office/drawing/2014/main" val="2571727928"/>
                  </a:ext>
                </a:extLst>
              </a:tr>
              <a:tr h="415532"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u="none" strike="noStrike">
                          <a:solidFill>
                            <a:srgbClr val="333333"/>
                          </a:solidFill>
                          <a:effectLst/>
                        </a:rPr>
                        <a:t>mean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15140" marB="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u="none" strike="noStrike">
                          <a:solidFill>
                            <a:srgbClr val="333333"/>
                          </a:solidFill>
                          <a:effectLst/>
                        </a:rPr>
                        <a:t>0.04577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60560" marB="6056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u="none" strike="noStrike">
                          <a:solidFill>
                            <a:srgbClr val="333333"/>
                          </a:solidFill>
                          <a:effectLst/>
                        </a:rPr>
                        <a:t>35.308085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60560" marB="6056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u="none" strike="noStrike">
                          <a:solidFill>
                            <a:srgbClr val="333333"/>
                          </a:solidFill>
                          <a:effectLst/>
                        </a:rPr>
                        <a:t>138.360657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60560" marB="60560" anchor="ctr"/>
                </a:tc>
                <a:extLst>
                  <a:ext uri="{0D108BD9-81ED-4DB2-BD59-A6C34878D82A}">
                    <a16:rowId xmlns:a16="http://schemas.microsoft.com/office/drawing/2014/main" val="450046284"/>
                  </a:ext>
                </a:extLst>
              </a:tr>
              <a:tr h="415532"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u="none" strike="noStrike">
                          <a:solidFill>
                            <a:srgbClr val="333333"/>
                          </a:solidFill>
                          <a:effectLst/>
                        </a:rPr>
                        <a:t>std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15140" marB="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u="none" strike="noStrike">
                          <a:solidFill>
                            <a:srgbClr val="333333"/>
                          </a:solidFill>
                          <a:effectLst/>
                        </a:rPr>
                        <a:t>0.02185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60560" marB="6056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u="none" strike="noStrike">
                          <a:solidFill>
                            <a:srgbClr val="333333"/>
                          </a:solidFill>
                          <a:effectLst/>
                        </a:rPr>
                        <a:t>17.007137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60560" marB="6056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u="none" strike="noStrike">
                          <a:solidFill>
                            <a:srgbClr val="333333"/>
                          </a:solidFill>
                          <a:effectLst/>
                        </a:rPr>
                        <a:t>42.498065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60560" marB="60560" anchor="ctr"/>
                </a:tc>
                <a:extLst>
                  <a:ext uri="{0D108BD9-81ED-4DB2-BD59-A6C34878D82A}">
                    <a16:rowId xmlns:a16="http://schemas.microsoft.com/office/drawing/2014/main" val="2214982566"/>
                  </a:ext>
                </a:extLst>
              </a:tr>
              <a:tr h="415532"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u="none" strike="noStrike">
                          <a:solidFill>
                            <a:srgbClr val="333333"/>
                          </a:solidFill>
                          <a:effectLst/>
                        </a:rPr>
                        <a:t>min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15140" marB="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u="none" strike="noStrike">
                          <a:solidFill>
                            <a:srgbClr val="333333"/>
                          </a:solidFill>
                          <a:effectLst/>
                        </a:rPr>
                        <a:t>0.009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60560" marB="6056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u="none" strike="noStrike">
                          <a:solidFill>
                            <a:srgbClr val="333333"/>
                          </a:solidFill>
                          <a:effectLst/>
                        </a:rPr>
                        <a:t>2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60560" marB="6056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u="none" strike="noStrike">
                          <a:solidFill>
                            <a:srgbClr val="333333"/>
                          </a:solidFill>
                          <a:effectLst/>
                        </a:rPr>
                        <a:t>9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60560" marB="60560" anchor="ctr"/>
                </a:tc>
                <a:extLst>
                  <a:ext uri="{0D108BD9-81ED-4DB2-BD59-A6C34878D82A}">
                    <a16:rowId xmlns:a16="http://schemas.microsoft.com/office/drawing/2014/main" val="113762002"/>
                  </a:ext>
                </a:extLst>
              </a:tr>
              <a:tr h="415532"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u="none" strike="noStrike">
                          <a:solidFill>
                            <a:srgbClr val="333333"/>
                          </a:solidFill>
                          <a:effectLst/>
                        </a:rPr>
                        <a:t>25%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15140" marB="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u="none" strike="noStrike">
                          <a:solidFill>
                            <a:srgbClr val="333333"/>
                          </a:solidFill>
                          <a:effectLst/>
                        </a:rPr>
                        <a:t>0.036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60560" marB="6056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u="none" strike="noStrike">
                          <a:solidFill>
                            <a:srgbClr val="333333"/>
                          </a:solidFill>
                          <a:effectLst/>
                        </a:rPr>
                        <a:t>23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60560" marB="6056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u="none" strike="noStrike">
                          <a:solidFill>
                            <a:srgbClr val="333333"/>
                          </a:solidFill>
                          <a:effectLst/>
                        </a:rPr>
                        <a:t>108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60560" marB="60560" anchor="ctr"/>
                </a:tc>
                <a:extLst>
                  <a:ext uri="{0D108BD9-81ED-4DB2-BD59-A6C34878D82A}">
                    <a16:rowId xmlns:a16="http://schemas.microsoft.com/office/drawing/2014/main" val="246323768"/>
                  </a:ext>
                </a:extLst>
              </a:tr>
              <a:tr h="415532"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u="none" strike="noStrike">
                          <a:solidFill>
                            <a:srgbClr val="333333"/>
                          </a:solidFill>
                          <a:effectLst/>
                        </a:rPr>
                        <a:t>50%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15140" marB="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u="none" strike="noStrike">
                          <a:solidFill>
                            <a:srgbClr val="333333"/>
                          </a:solidFill>
                          <a:effectLst/>
                        </a:rPr>
                        <a:t>0.043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60560" marB="6056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u="none" strike="noStrike">
                          <a:solidFill>
                            <a:srgbClr val="333333"/>
                          </a:solidFill>
                          <a:effectLst/>
                        </a:rPr>
                        <a:t>34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60560" marB="6056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u="none" strike="noStrike">
                          <a:solidFill>
                            <a:srgbClr val="333333"/>
                          </a:solidFill>
                          <a:effectLst/>
                        </a:rPr>
                        <a:t>134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60560" marB="60560" anchor="ctr"/>
                </a:tc>
                <a:extLst>
                  <a:ext uri="{0D108BD9-81ED-4DB2-BD59-A6C34878D82A}">
                    <a16:rowId xmlns:a16="http://schemas.microsoft.com/office/drawing/2014/main" val="1129027118"/>
                  </a:ext>
                </a:extLst>
              </a:tr>
              <a:tr h="415532"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u="none" strike="noStrike">
                          <a:solidFill>
                            <a:srgbClr val="333333"/>
                          </a:solidFill>
                          <a:effectLst/>
                        </a:rPr>
                        <a:t>75%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15140" marB="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u="none" strike="noStrike">
                          <a:solidFill>
                            <a:srgbClr val="333333"/>
                          </a:solidFill>
                          <a:effectLst/>
                        </a:rPr>
                        <a:t>0.05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60560" marB="6056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u="none" strike="noStrike">
                          <a:solidFill>
                            <a:srgbClr val="333333"/>
                          </a:solidFill>
                          <a:effectLst/>
                        </a:rPr>
                        <a:t>46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60560" marB="6056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u="none" strike="noStrike">
                          <a:solidFill>
                            <a:srgbClr val="333333"/>
                          </a:solidFill>
                          <a:effectLst/>
                        </a:rPr>
                        <a:t>167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60560" marB="60560" anchor="ctr"/>
                </a:tc>
                <a:extLst>
                  <a:ext uri="{0D108BD9-81ED-4DB2-BD59-A6C34878D82A}">
                    <a16:rowId xmlns:a16="http://schemas.microsoft.com/office/drawing/2014/main" val="2948232391"/>
                  </a:ext>
                </a:extLst>
              </a:tr>
              <a:tr h="415532"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u="none" strike="noStrike">
                          <a:solidFill>
                            <a:srgbClr val="333333"/>
                          </a:solidFill>
                          <a:effectLst/>
                        </a:rPr>
                        <a:t>max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15140" marB="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u="none" strike="noStrike">
                          <a:solidFill>
                            <a:srgbClr val="333333"/>
                          </a:solidFill>
                          <a:effectLst/>
                        </a:rPr>
                        <a:t>0.346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60560" marB="6056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u="none" strike="noStrike">
                          <a:solidFill>
                            <a:srgbClr val="333333"/>
                          </a:solidFill>
                          <a:effectLst/>
                        </a:rPr>
                        <a:t>289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60560" marB="60560" anchor="ctr"/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u="none" strike="noStrike">
                          <a:solidFill>
                            <a:srgbClr val="333333"/>
                          </a:solidFill>
                          <a:effectLst/>
                        </a:rPr>
                        <a:t>440</a:t>
                      </a:r>
                      <a:endParaRPr lang="en-US" sz="4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140" marR="15140" marT="60560" marB="60560" anchor="ctr"/>
                </a:tc>
                <a:extLst>
                  <a:ext uri="{0D108BD9-81ED-4DB2-BD59-A6C34878D82A}">
                    <a16:rowId xmlns:a16="http://schemas.microsoft.com/office/drawing/2014/main" val="3672124146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B39450-C613-4D2C-B8ED-1CF240D82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3291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A2D17-9DC8-4A97-B511-13D632BA9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Data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79C59B3-BEE7-448A-9006-A7C880977A3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813278" y="2098515"/>
          <a:ext cx="8625773" cy="378608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29706">
                  <a:extLst>
                    <a:ext uri="{9D8B030D-6E8A-4147-A177-3AD203B41FA5}">
                      <a16:colId xmlns:a16="http://schemas.microsoft.com/office/drawing/2014/main" val="3078524898"/>
                    </a:ext>
                  </a:extLst>
                </a:gridCol>
                <a:gridCol w="1447763">
                  <a:extLst>
                    <a:ext uri="{9D8B030D-6E8A-4147-A177-3AD203B41FA5}">
                      <a16:colId xmlns:a16="http://schemas.microsoft.com/office/drawing/2014/main" val="2381758938"/>
                    </a:ext>
                  </a:extLst>
                </a:gridCol>
                <a:gridCol w="1447763">
                  <a:extLst>
                    <a:ext uri="{9D8B030D-6E8A-4147-A177-3AD203B41FA5}">
                      <a16:colId xmlns:a16="http://schemas.microsoft.com/office/drawing/2014/main" val="1149985751"/>
                    </a:ext>
                  </a:extLst>
                </a:gridCol>
                <a:gridCol w="1626389">
                  <a:extLst>
                    <a:ext uri="{9D8B030D-6E8A-4147-A177-3AD203B41FA5}">
                      <a16:colId xmlns:a16="http://schemas.microsoft.com/office/drawing/2014/main" val="3499454537"/>
                    </a:ext>
                  </a:extLst>
                </a:gridCol>
                <a:gridCol w="1626389">
                  <a:extLst>
                    <a:ext uri="{9D8B030D-6E8A-4147-A177-3AD203B41FA5}">
                      <a16:colId xmlns:a16="http://schemas.microsoft.com/office/drawing/2014/main" val="1871138745"/>
                    </a:ext>
                  </a:extLst>
                </a:gridCol>
                <a:gridCol w="1447763">
                  <a:extLst>
                    <a:ext uri="{9D8B030D-6E8A-4147-A177-3AD203B41FA5}">
                      <a16:colId xmlns:a16="http://schemas.microsoft.com/office/drawing/2014/main" val="1627098451"/>
                    </a:ext>
                  </a:extLst>
                </a:gridCol>
              </a:tblGrid>
              <a:tr h="492396">
                <a:tc>
                  <a:txBody>
                    <a:bodyPr/>
                    <a:lstStyle/>
                    <a:p>
                      <a:pPr algn="l" fontAlgn="b"/>
                      <a:r>
                        <a:rPr lang="en-US" sz="2700" u="none" strike="noStrike">
                          <a:effectLst/>
                        </a:rPr>
                        <a:t> 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03" marR="10903" marT="10903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density</a:t>
                      </a:r>
                      <a:endParaRPr lang="en-US" sz="1700" b="1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109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pH</a:t>
                      </a:r>
                      <a:endParaRPr lang="en-US" sz="1700" b="1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109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sulphates</a:t>
                      </a:r>
                      <a:endParaRPr lang="en-US" sz="1700" b="1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109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alcohol</a:t>
                      </a:r>
                      <a:endParaRPr lang="en-US" sz="1700" b="1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109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quality</a:t>
                      </a:r>
                      <a:endParaRPr lang="en-US" sz="1700" b="1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10903" marB="0" anchor="ctr"/>
                </a:tc>
                <a:extLst>
                  <a:ext uri="{0D108BD9-81ED-4DB2-BD59-A6C34878D82A}">
                    <a16:rowId xmlns:a16="http://schemas.microsoft.com/office/drawing/2014/main" val="2967812296"/>
                  </a:ext>
                </a:extLst>
              </a:tr>
              <a:tr h="41171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count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109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4898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4898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4898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4898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4898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extLst>
                  <a:ext uri="{0D108BD9-81ED-4DB2-BD59-A6C34878D82A}">
                    <a16:rowId xmlns:a16="http://schemas.microsoft.com/office/drawing/2014/main" val="2795833931"/>
                  </a:ext>
                </a:extLst>
              </a:tr>
              <a:tr h="41171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mean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109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0.99403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3.18827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0.489847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10.51427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5.87791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extLst>
                  <a:ext uri="{0D108BD9-81ED-4DB2-BD59-A6C34878D82A}">
                    <a16:rowId xmlns:a16="http://schemas.microsoft.com/office/drawing/2014/main" val="3254403705"/>
                  </a:ext>
                </a:extLst>
              </a:tr>
              <a:tr h="41171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std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109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0.00299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0.151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0.114126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1.230621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0.88564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extLst>
                  <a:ext uri="{0D108BD9-81ED-4DB2-BD59-A6C34878D82A}">
                    <a16:rowId xmlns:a16="http://schemas.microsoft.com/office/drawing/2014/main" val="2146770839"/>
                  </a:ext>
                </a:extLst>
              </a:tr>
              <a:tr h="41171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min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109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0.98711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2.72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0.22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8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3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extLst>
                  <a:ext uri="{0D108BD9-81ED-4DB2-BD59-A6C34878D82A}">
                    <a16:rowId xmlns:a16="http://schemas.microsoft.com/office/drawing/2014/main" val="3237265828"/>
                  </a:ext>
                </a:extLst>
              </a:tr>
              <a:tr h="41171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25%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109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0.99172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3.09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0.41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9.5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5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extLst>
                  <a:ext uri="{0D108BD9-81ED-4DB2-BD59-A6C34878D82A}">
                    <a16:rowId xmlns:a16="http://schemas.microsoft.com/office/drawing/2014/main" val="3135744392"/>
                  </a:ext>
                </a:extLst>
              </a:tr>
              <a:tr h="41171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50%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109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0.99374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3.18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0.47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10.4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6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extLst>
                  <a:ext uri="{0D108BD9-81ED-4DB2-BD59-A6C34878D82A}">
                    <a16:rowId xmlns:a16="http://schemas.microsoft.com/office/drawing/2014/main" val="3335699337"/>
                  </a:ext>
                </a:extLst>
              </a:tr>
              <a:tr h="41171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75%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109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0.9961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3.28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0.55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11.4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6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extLst>
                  <a:ext uri="{0D108BD9-81ED-4DB2-BD59-A6C34878D82A}">
                    <a16:rowId xmlns:a16="http://schemas.microsoft.com/office/drawing/2014/main" val="2508523013"/>
                  </a:ext>
                </a:extLst>
              </a:tr>
              <a:tr h="41171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max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109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1.03898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3.82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1.08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14.2</a:t>
                      </a:r>
                      <a:endParaRPr lang="en-US" sz="170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 dirty="0">
                          <a:effectLst/>
                        </a:rPr>
                        <a:t>9</a:t>
                      </a:r>
                      <a:endParaRPr lang="en-US" sz="17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903" marR="10903" marT="43613" marB="43613" anchor="ctr"/>
                </a:tc>
                <a:extLst>
                  <a:ext uri="{0D108BD9-81ED-4DB2-BD59-A6C34878D82A}">
                    <a16:rowId xmlns:a16="http://schemas.microsoft.com/office/drawing/2014/main" val="79950529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893121-8E31-43DE-8944-3EAD60FB0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790102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{C8112114-C2E7-4726-B469-AB904E4B7D87}tf33845126_win32</Template>
  <TotalTime>3063</TotalTime>
  <Words>1271</Words>
  <Application>Microsoft Office PowerPoint</Application>
  <PresentationFormat>Widescreen</PresentationFormat>
  <Paragraphs>438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Bookman Old Style</vt:lpstr>
      <vt:lpstr>Calibri</vt:lpstr>
      <vt:lpstr>Franklin Gothic Book</vt:lpstr>
      <vt:lpstr>Segoe UI</vt:lpstr>
      <vt:lpstr>Wingdings</vt:lpstr>
      <vt:lpstr>1_RetrospectVTI</vt:lpstr>
      <vt:lpstr>White Wine Quality</vt:lpstr>
      <vt:lpstr>Introduction</vt:lpstr>
      <vt:lpstr>Introduction</vt:lpstr>
      <vt:lpstr>Purpose</vt:lpstr>
      <vt:lpstr>Features</vt:lpstr>
      <vt:lpstr>Features</vt:lpstr>
      <vt:lpstr>Data</vt:lpstr>
      <vt:lpstr>Correlation</vt:lpstr>
      <vt:lpstr>Alcohol VS Density (r = -0.82)</vt:lpstr>
      <vt:lpstr>Density VS Chlorides</vt:lpstr>
      <vt:lpstr>Density VS Bound Sulfur Dioxide</vt:lpstr>
      <vt:lpstr>PowerPoint Presentation</vt:lpstr>
      <vt:lpstr>PowerPoint Presentation</vt:lpstr>
      <vt:lpstr>Outliers</vt:lpstr>
      <vt:lpstr>Remove Outliers</vt:lpstr>
      <vt:lpstr>Data Information</vt:lpstr>
      <vt:lpstr>PowerPoint Presentation</vt:lpstr>
      <vt:lpstr>Quantity of Classes</vt:lpstr>
      <vt:lpstr>Split Training and Test data</vt:lpstr>
      <vt:lpstr>Model ML (Ori Data)</vt:lpstr>
      <vt:lpstr>Model ML (Clean Data)</vt:lpstr>
      <vt:lpstr>Predict Test Data</vt:lpstr>
      <vt:lpstr>Features Importance</vt:lpstr>
      <vt:lpstr>Alcohol VS Volatile Acidity</vt:lpstr>
      <vt:lpstr>Dist of Volatile Acid and Alcohol</vt:lpstr>
      <vt:lpstr>Dist of Alcohol</vt:lpstr>
      <vt:lpstr>Thank you</vt:lpstr>
      <vt:lpstr>PowerPoint Presentation</vt:lpstr>
      <vt:lpstr>PowerPoint Presentation</vt:lpstr>
      <vt:lpstr>PowerPoint Presentation</vt:lpstr>
      <vt:lpstr>3w 1H</vt:lpstr>
      <vt:lpstr>PowerPoint Presentation</vt:lpstr>
      <vt:lpstr>Features (pengaruh masing2)</vt:lpstr>
      <vt:lpstr>Features</vt:lpstr>
      <vt:lpstr>Features</vt:lpstr>
      <vt:lpstr>Feature</vt:lpstr>
      <vt:lpstr>Data (Transpose, replace %)</vt:lpstr>
      <vt:lpstr>Data</vt:lpstr>
      <vt:lpstr>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Wine Quality</dc:title>
  <dc:creator>krieshandy</dc:creator>
  <cp:lastModifiedBy>krieshandy</cp:lastModifiedBy>
  <cp:revision>34</cp:revision>
  <dcterms:created xsi:type="dcterms:W3CDTF">2022-01-07T01:17:55Z</dcterms:created>
  <dcterms:modified xsi:type="dcterms:W3CDTF">2022-01-14T06:58:07Z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